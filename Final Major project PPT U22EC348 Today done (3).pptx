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62" r:id="rId5"/>
    <p:sldId id="263" r:id="rId6"/>
    <p:sldId id="264" r:id="rId7"/>
    <p:sldId id="265" r:id="rId8"/>
    <p:sldId id="266" r:id="rId9"/>
    <p:sldId id="259" r:id="rId10"/>
    <p:sldId id="260" r:id="rId11"/>
    <p:sldId id="261" r:id="rId12"/>
    <p:sldId id="267" r:id="rId13"/>
    <p:sldId id="275" r:id="rId14"/>
    <p:sldId id="269" r:id="rId15"/>
    <p:sldId id="270" r:id="rId16"/>
    <p:sldId id="276" r:id="rId17"/>
    <p:sldId id="279" r:id="rId18"/>
    <p:sldId id="283" r:id="rId19"/>
    <p:sldId id="285" r:id="rId20"/>
    <p:sldId id="272" r:id="rId21"/>
    <p:sldId id="282" r:id="rId22"/>
    <p:sldId id="271"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4" d="100"/>
          <a:sy n="64" d="100"/>
        </p:scale>
        <p:origin x="156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1D8BD707-D9CF-40AE-B4C6-C98DA3205C09}" type="datetimeFigureOut">
              <a:rPr lang="en-US" smtClean="0"/>
              <a:pPr/>
              <a:t>5/8/2026</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pPr/>
              <a:t>5/8/2026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5/8/2026</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1D8BD707-D9CF-40AE-B4C6-C98DA3205C09}" type="datetimeFigureOut">
              <a:rPr lang="en-US" smtClean="0"/>
              <a:pPr/>
              <a:t>5/8/2026</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ieeexplore.ieee.org/author/37087077784" TargetMode="External"/><Relationship Id="rId2" Type="http://schemas.openxmlformats.org/officeDocument/2006/relationships/hyperlink" Target="https://ieeexplore.ieee.org/author/37086274729"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ieeexplore.ieee.org/author/37086147106" TargetMode="External"/><Relationship Id="rId2" Type="http://schemas.openxmlformats.org/officeDocument/2006/relationships/hyperlink" Target="https://ieeexplore.ieee.org/author/37085849069"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ieeexplore.ieee.org/author/37086519947" TargetMode="External"/><Relationship Id="rId2" Type="http://schemas.openxmlformats.org/officeDocument/2006/relationships/hyperlink" Target="https://ieeexplore.ieee.org/author/37086518528"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ieeexplore.ieee.org/author/37085649369" TargetMode="External"/><Relationship Id="rId2" Type="http://schemas.openxmlformats.org/officeDocument/2006/relationships/hyperlink" Target="https://ieeexplore.ieee.org/author/37085635235"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ieeexplore.ieee.org/author/37317326400" TargetMode="External"/><Relationship Id="rId2" Type="http://schemas.openxmlformats.org/officeDocument/2006/relationships/hyperlink" Target="https://ieeexplore.ieee.org/author/37871125400"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s://www.elprocus.com/basic-components-used-electronics-electrical/"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0" y="3429000"/>
            <a:ext cx="8485682" cy="3048000"/>
          </a:xfrm>
        </p:spPr>
        <p:txBody>
          <a:bodyPr>
            <a:normAutofit fontScale="25000" lnSpcReduction="20000"/>
          </a:bodyPr>
          <a:lstStyle/>
          <a:p>
            <a:pPr algn="l"/>
            <a:endParaRPr lang="en-US" sz="6000" b="1" dirty="0"/>
          </a:p>
          <a:p>
            <a:pPr algn="l"/>
            <a:endParaRPr lang="en-US" sz="6000" b="1" dirty="0"/>
          </a:p>
          <a:p>
            <a:pPr algn="l"/>
            <a:r>
              <a:rPr lang="en-US" sz="8000" b="1" dirty="0">
                <a:latin typeface="Arial" panose="020B0604020202020204" pitchFamily="34" charset="0"/>
                <a:cs typeface="Arial" panose="020B0604020202020204" pitchFamily="34" charset="0"/>
              </a:rPr>
              <a:t>Project Supervisor:                                       Presented</a:t>
            </a:r>
            <a:r>
              <a:rPr lang="en-US" sz="8000" b="1" dirty="0"/>
              <a:t> </a:t>
            </a:r>
            <a:r>
              <a:rPr lang="en-US" sz="8000" b="1" dirty="0">
                <a:latin typeface="Arial" panose="020B0604020202020204" pitchFamily="34" charset="0"/>
                <a:cs typeface="Arial" panose="020B0604020202020204" pitchFamily="34" charset="0"/>
              </a:rPr>
              <a:t>By:</a:t>
            </a:r>
            <a:r>
              <a:rPr lang="en-US" sz="8000" b="1" dirty="0"/>
              <a:t> </a:t>
            </a:r>
          </a:p>
          <a:p>
            <a:pPr algn="l"/>
            <a:r>
              <a:rPr lang="en-US" sz="6400" dirty="0">
                <a:latin typeface="Times New Roman" panose="02020603050405020304" pitchFamily="18" charset="0"/>
                <a:cs typeface="Times New Roman" panose="02020603050405020304" pitchFamily="18" charset="0"/>
              </a:rPr>
              <a:t>    Dr. B. HEMALATHA.                                                                   </a:t>
            </a:r>
            <a:r>
              <a:rPr lang="en-US" sz="7200" dirty="0"/>
              <a:t>Polipalli Rajesh(U22EC348)</a:t>
            </a:r>
          </a:p>
          <a:p>
            <a:pPr algn="l"/>
            <a:r>
              <a:rPr lang="en-US" sz="6400" dirty="0"/>
              <a:t>        </a:t>
            </a:r>
            <a:r>
              <a:rPr lang="en-US" sz="6400" dirty="0">
                <a:latin typeface="Times New Roman" panose="02020603050405020304" pitchFamily="18" charset="0"/>
                <a:cs typeface="Times New Roman" panose="02020603050405020304" pitchFamily="18" charset="0"/>
              </a:rPr>
              <a:t>Professor, ECE Department, at Bharath University</a:t>
            </a:r>
            <a:r>
              <a:rPr lang="en-US" sz="7200" dirty="0"/>
              <a:t>.                   </a:t>
            </a:r>
            <a:r>
              <a:rPr lang="en-US" sz="7200" dirty="0" err="1"/>
              <a:t>Pulabala</a:t>
            </a:r>
            <a:r>
              <a:rPr lang="en-US" sz="7200" dirty="0"/>
              <a:t> Sai Varun(U22EC361)</a:t>
            </a:r>
          </a:p>
          <a:p>
            <a:pPr algn="l"/>
            <a:r>
              <a:rPr lang="en-US" sz="7200" dirty="0"/>
              <a:t>                                                                                                            Ravula Vinay Kumar (U22EC367</a:t>
            </a:r>
            <a:r>
              <a:rPr lang="en-US" sz="6400" dirty="0"/>
              <a:t>)</a:t>
            </a:r>
          </a:p>
          <a:p>
            <a:pPr algn="l"/>
            <a:r>
              <a:rPr lang="en-US" sz="8000" b="1" dirty="0">
                <a:latin typeface="Arial" panose="020B0604020202020204" pitchFamily="34" charset="0"/>
                <a:cs typeface="Arial" panose="020B0604020202020204" pitchFamily="34" charset="0"/>
              </a:rPr>
              <a:t>Project Coordinator:</a:t>
            </a:r>
          </a:p>
          <a:p>
            <a:pPr algn="l"/>
            <a:r>
              <a:rPr lang="en-US" sz="6400" dirty="0">
                <a:latin typeface="Times New Roman" panose="02020603050405020304" pitchFamily="18" charset="0"/>
                <a:cs typeface="Times New Roman" panose="02020603050405020304" pitchFamily="18" charset="0"/>
              </a:rPr>
              <a:t>Dr. G. SUDHAGAR.</a:t>
            </a:r>
          </a:p>
          <a:p>
            <a:pPr algn="l"/>
            <a:r>
              <a:rPr lang="en-US" sz="6400" dirty="0"/>
              <a:t>         </a:t>
            </a:r>
            <a:r>
              <a:rPr lang="en-US" sz="6400" dirty="0">
                <a:latin typeface="Times New Roman" panose="02020603050405020304" pitchFamily="18" charset="0"/>
                <a:cs typeface="Times New Roman" panose="02020603050405020304" pitchFamily="18" charset="0"/>
              </a:rPr>
              <a:t>Professor, ECE Department, at Bharath University.</a:t>
            </a:r>
          </a:p>
          <a:p>
            <a:pPr algn="r"/>
            <a:r>
              <a:rPr lang="en-US" sz="4400" dirty="0"/>
              <a:t>)</a:t>
            </a:r>
          </a:p>
          <a:p>
            <a:pPr algn="r"/>
            <a:endParaRPr lang="en-US" sz="4200" dirty="0"/>
          </a:p>
          <a:p>
            <a:endParaRPr lang="en-US" dirty="0"/>
          </a:p>
        </p:txBody>
      </p:sp>
      <p:sp>
        <p:nvSpPr>
          <p:cNvPr id="2" name="Title 1"/>
          <p:cNvSpPr>
            <a:spLocks noGrp="1"/>
          </p:cNvSpPr>
          <p:nvPr>
            <p:ph type="ctrTitle"/>
          </p:nvPr>
        </p:nvSpPr>
        <p:spPr>
          <a:ln>
            <a:solidFill>
              <a:schemeClr val="tx1">
                <a:lumMod val="75000"/>
                <a:lumOff val="25000"/>
              </a:schemeClr>
            </a:solidFill>
          </a:ln>
        </p:spPr>
        <p:txBody>
          <a:bodyPr>
            <a:normAutofit fontScale="90000"/>
          </a:bodyPr>
          <a:lstStyle/>
          <a:p>
            <a:r>
              <a:rPr lang="en-IN" b="1" dirty="0">
                <a:latin typeface="Times New Roman" pitchFamily="18" charset="0"/>
                <a:cs typeface="Times New Roman" pitchFamily="18" charset="0"/>
              </a:rPr>
              <a:t>An</a:t>
            </a:r>
            <a:r>
              <a:rPr b="1" dirty="0">
                <a:latin typeface="Times New Roman" pitchFamily="18" charset="0"/>
                <a:cs typeface="Times New Roman" pitchFamily="18" charset="0"/>
              </a:rPr>
              <a:t> I beacon based </a:t>
            </a:r>
            <a:r>
              <a:rPr lang="en-IN" b="1" dirty="0">
                <a:latin typeface="Times New Roman" pitchFamily="18" charset="0"/>
                <a:cs typeface="Times New Roman" pitchFamily="18" charset="0"/>
              </a:rPr>
              <a:t> AI-Driven Wearable Surveillance System for Tracking and Intercepting Forced Human Transport</a:t>
            </a:r>
            <a:endParaRPr b="1"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14400" y="152400"/>
            <a:ext cx="7772400" cy="838200"/>
          </a:xfrm>
        </p:spPr>
        <p:txBody>
          <a:bodyPr/>
          <a:lstStyle/>
          <a:p>
            <a:pPr algn="ctr"/>
            <a:r>
              <a:rPr lang="en-US" b="1" dirty="0">
                <a:latin typeface="Times New Roman" pitchFamily="18" charset="0"/>
                <a:cs typeface="Times New Roman" pitchFamily="18" charset="0"/>
              </a:rPr>
              <a:t>ABSTRACT</a:t>
            </a:r>
          </a:p>
        </p:txBody>
      </p:sp>
      <p:sp>
        <p:nvSpPr>
          <p:cNvPr id="2" name="Content Placeholder 1"/>
          <p:cNvSpPr>
            <a:spLocks noGrp="1"/>
          </p:cNvSpPr>
          <p:nvPr>
            <p:ph sz="quarter" idx="1"/>
          </p:nvPr>
        </p:nvSpPr>
        <p:spPr>
          <a:xfrm>
            <a:off x="914400" y="990600"/>
            <a:ext cx="7772400" cy="5029200"/>
          </a:xfrm>
        </p:spPr>
        <p:txBody>
          <a:bodyPr>
            <a:noAutofit/>
          </a:bodyPr>
          <a:lstStyle/>
          <a:p>
            <a:pPr algn="just"/>
            <a:r>
              <a:rPr lang="en-US" sz="2000" dirty="0">
                <a:latin typeface="Times New Roman" pitchFamily="18" charset="0"/>
                <a:cs typeface="Times New Roman" pitchFamily="18" charset="0"/>
              </a:rPr>
              <a:t>Human trafficking and forced human transport remain critical global challenges due to the absence of reliable real‑time victim detection mechanisms, especially in GPS‑denied and phone‑restricted environments such as vehicles, containers, and isolated transit routes. </a:t>
            </a:r>
          </a:p>
          <a:p>
            <a:pPr algn="just"/>
            <a:r>
              <a:rPr lang="en-US" sz="2000" dirty="0">
                <a:latin typeface="Times New Roman" pitchFamily="18" charset="0"/>
                <a:cs typeface="Times New Roman" pitchFamily="18" charset="0"/>
              </a:rPr>
              <a:t>This project proposes an AI‑Driven Wearable Rescue Beacon System that automatically detects and signals potential forced transportation events using physiological and motion‑based intelligence. </a:t>
            </a:r>
          </a:p>
          <a:p>
            <a:pPr algn="just"/>
            <a:r>
              <a:rPr lang="en-US" sz="2000" dirty="0">
                <a:latin typeface="Times New Roman" pitchFamily="18" charset="0"/>
                <a:cs typeface="Times New Roman" pitchFamily="18" charset="0"/>
              </a:rPr>
              <a:t>The system integrates a MAX30102 heart rate sensor, MEMS accelerometer, iBeacon BLE module, Wi‑Fi connectivity, and an OLED‑based covert interface in a smartwatch‑form wearable.</a:t>
            </a:r>
          </a:p>
          <a:p>
            <a:pPr algn="just"/>
            <a:r>
              <a:rPr lang="en-US" sz="2000" dirty="0">
                <a:latin typeface="Times New Roman" pitchFamily="18" charset="0"/>
                <a:cs typeface="Times New Roman" pitchFamily="18" charset="0"/>
              </a:rPr>
              <a:t>The wearable continuously learns the user’s normal activity patterns and physiological </a:t>
            </a:r>
            <a:r>
              <a:rPr lang="en-US" sz="2000" dirty="0" err="1">
                <a:latin typeface="Times New Roman" pitchFamily="18" charset="0"/>
                <a:cs typeface="Times New Roman" pitchFamily="18" charset="0"/>
              </a:rPr>
              <a:t>beh</a:t>
            </a:r>
            <a:r>
              <a:rPr lang="en-US" sz="2000" dirty="0">
                <a:latin typeface="Times New Roman" pitchFamily="18" charset="0"/>
                <a:cs typeface="Times New Roman" pitchFamily="18" charset="0"/>
              </a:rPr>
              <a:t> Using sensor‑fusion and anomaly‑detection models, it identifies abnormal stress responses, sudden movement patterns, sustained vehicular vibration signatures, and loss of familiar beacon environments to infer potential abduction scenarios. </a:t>
            </a:r>
          </a:p>
          <a:p>
            <a:pPr marL="0" indent="0">
              <a:buNone/>
            </a:pP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14400" y="228600"/>
            <a:ext cx="7772400" cy="762000"/>
          </a:xfrm>
        </p:spPr>
        <p:txBody>
          <a:bodyPr/>
          <a:lstStyle/>
          <a:p>
            <a:pPr algn="ctr"/>
            <a:r>
              <a:rPr lang="en-US" b="1" dirty="0">
                <a:latin typeface="Times New Roman" pitchFamily="18" charset="0"/>
                <a:cs typeface="Times New Roman" pitchFamily="18" charset="0"/>
              </a:rPr>
              <a:t>INTRODUCTION</a:t>
            </a:r>
          </a:p>
        </p:txBody>
      </p:sp>
      <p:sp>
        <p:nvSpPr>
          <p:cNvPr id="2" name="Content Placeholder 1"/>
          <p:cNvSpPr>
            <a:spLocks noGrp="1"/>
          </p:cNvSpPr>
          <p:nvPr>
            <p:ph sz="quarter" idx="1"/>
          </p:nvPr>
        </p:nvSpPr>
        <p:spPr>
          <a:xfrm>
            <a:off x="685800" y="990600"/>
            <a:ext cx="8001000" cy="5029200"/>
          </a:xfrm>
        </p:spPr>
        <p:txBody>
          <a:bodyPr>
            <a:noAutofit/>
          </a:bodyPr>
          <a:lstStyle/>
          <a:p>
            <a:pPr algn="just"/>
            <a:r>
              <a:rPr lang="en-US" sz="1800" dirty="0">
                <a:latin typeface="Times New Roman" pitchFamily="18" charset="0"/>
                <a:cs typeface="Times New Roman" pitchFamily="18" charset="0"/>
              </a:rPr>
              <a:t>In today’s world, women safety has become a major issue as they can’t step out of their house at any given time due to physical/sexual abuse and a fear of violence. </a:t>
            </a:r>
          </a:p>
          <a:p>
            <a:pPr algn="just"/>
            <a:r>
              <a:rPr lang="en-US" sz="1800" dirty="0">
                <a:latin typeface="Times New Roman" pitchFamily="18" charset="0"/>
                <a:cs typeface="Times New Roman" pitchFamily="18" charset="0"/>
              </a:rPr>
              <a:t>Even in the 21st century where the technology is rapidly growing and new gadgets were developed but still women’s and girls are facing problems. </a:t>
            </a:r>
          </a:p>
          <a:p>
            <a:pPr algn="just"/>
            <a:r>
              <a:rPr lang="en-US" sz="1800" dirty="0">
                <a:latin typeface="Times New Roman" pitchFamily="18" charset="0"/>
                <a:cs typeface="Times New Roman" pitchFamily="18" charset="0"/>
              </a:rPr>
              <a:t>Women are adept at mobilizing diverse groups for a common reason. They often work across ethnic, religious, political, and cultural divides to promote liberty. We are all aware of importance of women safety, but we must analyze that they should be properly protected. Women are not as physically fit as men, in an emergency situation a helping hand would be assistance for them. </a:t>
            </a:r>
          </a:p>
          <a:p>
            <a:pPr algn="just"/>
            <a:r>
              <a:rPr lang="en-US" sz="1800" dirty="0">
                <a:latin typeface="Times New Roman" pitchFamily="18" charset="0"/>
                <a:cs typeface="Times New Roman" pitchFamily="18" charset="0"/>
              </a:rPr>
              <a:t>The best way to curtail your probability of becoming a dupe of violent crime (robbery, sexual assault, rape, domestic violence) is to recognize, </a:t>
            </a:r>
            <a:r>
              <a:rPr lang="en-US" sz="1800" dirty="0" err="1">
                <a:latin typeface="Times New Roman" pitchFamily="18" charset="0"/>
                <a:cs typeface="Times New Roman" pitchFamily="18" charset="0"/>
              </a:rPr>
              <a:t>defence</a:t>
            </a:r>
            <a:r>
              <a:rPr lang="en-US" sz="1800" dirty="0">
                <a:latin typeface="Times New Roman" pitchFamily="18" charset="0"/>
                <a:cs typeface="Times New Roman" pitchFamily="18" charset="0"/>
              </a:rPr>
              <a:t> and look up resources to help you out of hazardous situation. </a:t>
            </a:r>
          </a:p>
          <a:p>
            <a:pPr algn="just"/>
            <a:r>
              <a:rPr lang="en-US" sz="1800" dirty="0">
                <a:latin typeface="Times New Roman" pitchFamily="18" charset="0"/>
                <a:cs typeface="Times New Roman" pitchFamily="18" charset="0"/>
              </a:rPr>
              <a:t>If you're in dilemma or get split from friends during a night out and don't know how to find back residence.</a:t>
            </a:r>
          </a:p>
          <a:p>
            <a:pPr algn="just"/>
            <a:r>
              <a:rPr lang="en-US" sz="1800" dirty="0">
                <a:latin typeface="Times New Roman" pitchFamily="18" charset="0"/>
                <a:cs typeface="Times New Roman" pitchFamily="18" charset="0"/>
              </a:rPr>
              <a:t>There are several app reduce the risk of sexual assault on women by informing control center and their associates through SMS, but in lay of those this apparatus have much more efficient way to inform those this respected personals and also has a defending system which cannot be provided by existing app.</a:t>
            </a:r>
          </a:p>
          <a:p>
            <a:pPr marL="0" indent="0" algn="just">
              <a:buNone/>
            </a:pPr>
            <a:endParaRPr lang="en-US" sz="18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b="1" dirty="0">
                <a:latin typeface="Times New Roman" pitchFamily="18" charset="0"/>
                <a:cs typeface="Times New Roman" pitchFamily="18" charset="0"/>
              </a:rPr>
              <a:t>LITERATURE SURVEY 1</a:t>
            </a:r>
          </a:p>
        </p:txBody>
      </p:sp>
      <p:sp>
        <p:nvSpPr>
          <p:cNvPr id="2" name="Content Placeholder 1"/>
          <p:cNvSpPr>
            <a:spLocks noGrp="1"/>
          </p:cNvSpPr>
          <p:nvPr>
            <p:ph sz="quarter" idx="1"/>
          </p:nvPr>
        </p:nvSpPr>
        <p:spPr/>
        <p:txBody>
          <a:bodyPr>
            <a:normAutofit fontScale="77500" lnSpcReduction="20000"/>
          </a:bodyPr>
          <a:lstStyle/>
          <a:p>
            <a:pPr algn="just"/>
            <a:r>
              <a:rPr lang="en-US" b="1" dirty="0">
                <a:latin typeface="Times New Roman" pitchFamily="18" charset="0"/>
                <a:cs typeface="Times New Roman" pitchFamily="18" charset="0"/>
              </a:rPr>
              <a:t>A Survey on Women Safety Device Using </a:t>
            </a:r>
            <a:r>
              <a:rPr lang="en-US" b="1" dirty="0" err="1">
                <a:latin typeface="Times New Roman" pitchFamily="18" charset="0"/>
                <a:cs typeface="Times New Roman" pitchFamily="18" charset="0"/>
              </a:rPr>
              <a:t>IoT</a:t>
            </a:r>
            <a:r>
              <a:rPr lang="en-US" b="1" dirty="0">
                <a:latin typeface="Times New Roman" pitchFamily="18" charset="0"/>
                <a:cs typeface="Times New Roman" pitchFamily="18" charset="0"/>
              </a:rPr>
              <a:t> </a:t>
            </a:r>
            <a:r>
              <a:rPr lang="en-US" dirty="0">
                <a:latin typeface="Times New Roman" pitchFamily="18" charset="0"/>
                <a:cs typeface="Times New Roman" pitchFamily="18" charset="0"/>
                <a:hlinkClick r:id="rId2"/>
              </a:rPr>
              <a:t>R. </a:t>
            </a:r>
            <a:r>
              <a:rPr lang="en-US" dirty="0" err="1">
                <a:latin typeface="Times New Roman" pitchFamily="18" charset="0"/>
                <a:cs typeface="Times New Roman" pitchFamily="18" charset="0"/>
                <a:hlinkClick r:id="rId2"/>
              </a:rPr>
              <a:t>Ramachandiran</a:t>
            </a:r>
            <a:r>
              <a:rPr lang="en-US" dirty="0">
                <a:latin typeface="Times New Roman" pitchFamily="18" charset="0"/>
                <a:cs typeface="Times New Roman" pitchFamily="18" charset="0"/>
                <a:hlinkClick r:id="rId2"/>
              </a:rPr>
              <a:t> </a:t>
            </a:r>
            <a:r>
              <a:rPr lang="en-US" dirty="0">
                <a:latin typeface="Times New Roman" pitchFamily="18" charset="0"/>
                <a:cs typeface="Times New Roman" pitchFamily="18" charset="0"/>
              </a:rPr>
              <a:t>; </a:t>
            </a:r>
            <a:r>
              <a:rPr lang="en-US" dirty="0">
                <a:latin typeface="Times New Roman" pitchFamily="18" charset="0"/>
                <a:cs typeface="Times New Roman" pitchFamily="18" charset="0"/>
                <a:hlinkClick r:id="rId3"/>
              </a:rPr>
              <a:t>L. </a:t>
            </a:r>
            <a:r>
              <a:rPr lang="en-US" dirty="0" err="1">
                <a:latin typeface="Times New Roman" pitchFamily="18" charset="0"/>
                <a:cs typeface="Times New Roman" pitchFamily="18" charset="0"/>
                <a:hlinkClick r:id="rId3"/>
              </a:rPr>
              <a:t>Dhanya</a:t>
            </a:r>
            <a:r>
              <a:rPr lang="en-US" dirty="0">
                <a:latin typeface="Times New Roman" pitchFamily="18" charset="0"/>
                <a:cs typeface="Times New Roman" pitchFamily="18" charset="0"/>
                <a:hlinkClick r:id="rId3"/>
              </a:rPr>
              <a:t> </a:t>
            </a:r>
            <a:r>
              <a:rPr lang="en-US" dirty="0">
                <a:latin typeface="Times New Roman" pitchFamily="18" charset="0"/>
                <a:cs typeface="Times New Roman" pitchFamily="18" charset="0"/>
              </a:rPr>
              <a:t>; IEEE 2025.</a:t>
            </a:r>
          </a:p>
          <a:p>
            <a:pPr algn="just"/>
            <a:r>
              <a:rPr lang="en-US" dirty="0">
                <a:latin typeface="Times New Roman" pitchFamily="18" charset="0"/>
                <a:cs typeface="Times New Roman" pitchFamily="18" charset="0"/>
              </a:rPr>
              <a:t>In the Present day’s scenes women safety is considered to be the major problem in both urban and rural areas. It is quite difficult to change the mind-set of the entire society, but we can provide several security devices for the women who are facing sexual harassment, acid attacks, molestation, etc. </a:t>
            </a:r>
          </a:p>
          <a:p>
            <a:pPr algn="just"/>
            <a:r>
              <a:rPr lang="en-US" dirty="0">
                <a:latin typeface="Times New Roman" pitchFamily="18" charset="0"/>
                <a:cs typeface="Times New Roman" pitchFamily="18" charset="0"/>
              </a:rPr>
              <a:t>For providing the security, various smart devices and applications were developed. </a:t>
            </a:r>
          </a:p>
          <a:p>
            <a:pPr algn="just"/>
            <a:r>
              <a:rPr lang="en-US" dirty="0">
                <a:latin typeface="Times New Roman" pitchFamily="18" charset="0"/>
                <a:cs typeface="Times New Roman" pitchFamily="18" charset="0"/>
              </a:rPr>
              <a:t>Many smart devices and applications are also available in the market; But, it doesn't provide an effective solution. Experts from various field discovered women's safety device which works in both manually and automatically. This article examines various women safety related techniques. </a:t>
            </a:r>
          </a:p>
          <a:p>
            <a:pPr algn="just"/>
            <a:r>
              <a:rPr lang="en-US" dirty="0">
                <a:latin typeface="Times New Roman" pitchFamily="18" charset="0"/>
                <a:cs typeface="Times New Roman" pitchFamily="18" charset="0"/>
              </a:rPr>
              <a:t>The drawbacks and opportunities in women's safety devices are also discussed.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b="1" dirty="0">
                <a:latin typeface="Times New Roman" pitchFamily="18" charset="0"/>
                <a:cs typeface="Times New Roman" pitchFamily="18" charset="0"/>
              </a:rPr>
              <a:t>LITERATURE SURVEY 2</a:t>
            </a:r>
          </a:p>
        </p:txBody>
      </p:sp>
      <p:sp>
        <p:nvSpPr>
          <p:cNvPr id="2" name="Content Placeholder 1"/>
          <p:cNvSpPr>
            <a:spLocks noGrp="1"/>
          </p:cNvSpPr>
          <p:nvPr>
            <p:ph sz="quarter" idx="1"/>
          </p:nvPr>
        </p:nvSpPr>
        <p:spPr/>
        <p:txBody>
          <a:bodyPr>
            <a:normAutofit fontScale="77500" lnSpcReduction="20000"/>
          </a:bodyPr>
          <a:lstStyle/>
          <a:p>
            <a:pPr algn="just"/>
            <a:r>
              <a:rPr lang="en-US" b="1" dirty="0">
                <a:latin typeface="Times New Roman" pitchFamily="18" charset="0"/>
                <a:cs typeface="Times New Roman" pitchFamily="18" charset="0"/>
              </a:rPr>
              <a:t>Design of a women safety device </a:t>
            </a:r>
            <a:r>
              <a:rPr lang="en-US" dirty="0" err="1">
                <a:latin typeface="Times New Roman" pitchFamily="18" charset="0"/>
                <a:cs typeface="Times New Roman" pitchFamily="18" charset="0"/>
                <a:hlinkClick r:id="rId2"/>
              </a:rPr>
              <a:t>Divya</a:t>
            </a:r>
            <a:r>
              <a:rPr lang="en-US" dirty="0">
                <a:latin typeface="Times New Roman" pitchFamily="18" charset="0"/>
                <a:cs typeface="Times New Roman" pitchFamily="18" charset="0"/>
                <a:hlinkClick r:id="rId2"/>
              </a:rPr>
              <a:t> </a:t>
            </a:r>
            <a:r>
              <a:rPr lang="en-US" dirty="0" err="1">
                <a:latin typeface="Times New Roman" pitchFamily="18" charset="0"/>
                <a:cs typeface="Times New Roman" pitchFamily="18" charset="0"/>
                <a:hlinkClick r:id="rId2"/>
              </a:rPr>
              <a:t>Chitkara</a:t>
            </a:r>
            <a:r>
              <a:rPr lang="en-US" dirty="0">
                <a:latin typeface="Times New Roman" pitchFamily="18" charset="0"/>
                <a:cs typeface="Times New Roman" pitchFamily="18" charset="0"/>
                <a:hlinkClick r:id="rId2"/>
              </a:rPr>
              <a:t> </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hlinkClick r:id="rId3"/>
              </a:rPr>
              <a:t>Nipun</a:t>
            </a:r>
            <a:r>
              <a:rPr lang="en-US" dirty="0">
                <a:latin typeface="Times New Roman" pitchFamily="18" charset="0"/>
                <a:cs typeface="Times New Roman" pitchFamily="18" charset="0"/>
                <a:hlinkClick r:id="rId3"/>
              </a:rPr>
              <a:t> </a:t>
            </a:r>
            <a:r>
              <a:rPr lang="en-US" dirty="0" err="1">
                <a:latin typeface="Times New Roman" pitchFamily="18" charset="0"/>
                <a:cs typeface="Times New Roman" pitchFamily="18" charset="0"/>
                <a:hlinkClick r:id="rId3"/>
              </a:rPr>
              <a:t>Sachdeva</a:t>
            </a:r>
            <a:r>
              <a:rPr lang="en-US" dirty="0">
                <a:latin typeface="Times New Roman" pitchFamily="18" charset="0"/>
                <a:cs typeface="Times New Roman" pitchFamily="18" charset="0"/>
              </a:rPr>
              <a:t> IEEE 2025.</a:t>
            </a:r>
          </a:p>
          <a:p>
            <a:pPr algn="just"/>
            <a:r>
              <a:rPr lang="en-US" dirty="0">
                <a:latin typeface="Times New Roman" pitchFamily="18" charset="0"/>
                <a:cs typeface="Times New Roman" pitchFamily="18" charset="0"/>
              </a:rPr>
              <a:t>Though there are unprecedented numbers of laws against domestic violence, sexual assault and other forms of violence in each and every country to protect their female citizens to become a victim of any such violence but they are facing major challenges in implementing such laws. </a:t>
            </a:r>
          </a:p>
          <a:p>
            <a:pPr algn="just"/>
            <a:r>
              <a:rPr lang="en-US" dirty="0">
                <a:latin typeface="Times New Roman" pitchFamily="18" charset="0"/>
                <a:cs typeface="Times New Roman" pitchFamily="18" charset="0"/>
              </a:rPr>
              <a:t>Thus making the society unjust and insecure for the women as in majority of cases the violator remains unpunished. </a:t>
            </a:r>
          </a:p>
          <a:p>
            <a:pPr algn="just"/>
            <a:r>
              <a:rPr lang="en-US" dirty="0">
                <a:latin typeface="Times New Roman" pitchFamily="18" charset="0"/>
                <a:cs typeface="Times New Roman" pitchFamily="18" charset="0"/>
              </a:rPr>
              <a:t>We all should focus on ensuring a society which is secure for all the women around the globe so that they can experience equality and justice. </a:t>
            </a:r>
          </a:p>
          <a:p>
            <a:pPr algn="just"/>
            <a:r>
              <a:rPr lang="en-US" dirty="0">
                <a:latin typeface="Times New Roman" pitchFamily="18" charset="0"/>
                <a:cs typeface="Times New Roman" pitchFamily="18" charset="0"/>
              </a:rPr>
              <a:t>In a sexual act of violence the aggressors are confident of the power they exercise. The </a:t>
            </a:r>
            <a:r>
              <a:rPr lang="en-US" dirty="0" err="1">
                <a:latin typeface="Times New Roman" pitchFamily="18" charset="0"/>
                <a:cs typeface="Times New Roman" pitchFamily="18" charset="0"/>
              </a:rPr>
              <a:t>defence</a:t>
            </a:r>
            <a:r>
              <a:rPr lang="en-US" dirty="0">
                <a:latin typeface="Times New Roman" pitchFamily="18" charset="0"/>
                <a:cs typeface="Times New Roman" pitchFamily="18" charset="0"/>
              </a:rPr>
              <a:t> strategy used by females needs to be </a:t>
            </a:r>
            <a:r>
              <a:rPr lang="en-US" dirty="0" err="1">
                <a:latin typeface="Times New Roman" pitchFamily="18" charset="0"/>
                <a:cs typeface="Times New Roman" pitchFamily="18" charset="0"/>
              </a:rPr>
              <a:t>revolutionised</a:t>
            </a:r>
            <a:r>
              <a:rPr lang="en-US" dirty="0">
                <a:latin typeface="Times New Roman" pitchFamily="18" charset="0"/>
                <a:cs typeface="Times New Roman" pitchFamily="18" charset="0"/>
              </a:rPr>
              <a:t> by adopting modern technology and gadgets to protect them from their oppressor. This device is an answer to all the women who deserve a safe and secure world.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14400" y="228600"/>
            <a:ext cx="7772400" cy="914400"/>
          </a:xfrm>
        </p:spPr>
        <p:txBody>
          <a:bodyPr/>
          <a:lstStyle/>
          <a:p>
            <a:pPr algn="ctr"/>
            <a:r>
              <a:rPr lang="en-US" b="1" dirty="0">
                <a:latin typeface="Times New Roman" pitchFamily="18" charset="0"/>
                <a:cs typeface="Times New Roman" pitchFamily="18" charset="0"/>
              </a:rPr>
              <a:t>LITERATURE SURVEY 3</a:t>
            </a:r>
          </a:p>
        </p:txBody>
      </p:sp>
      <p:sp>
        <p:nvSpPr>
          <p:cNvPr id="2" name="Content Placeholder 1"/>
          <p:cNvSpPr>
            <a:spLocks noGrp="1"/>
          </p:cNvSpPr>
          <p:nvPr>
            <p:ph sz="quarter" idx="1"/>
          </p:nvPr>
        </p:nvSpPr>
        <p:spPr>
          <a:xfrm>
            <a:off x="914400" y="1143000"/>
            <a:ext cx="7772400" cy="4876800"/>
          </a:xfrm>
        </p:spPr>
        <p:txBody>
          <a:bodyPr>
            <a:noAutofit/>
          </a:bodyPr>
          <a:lstStyle/>
          <a:p>
            <a:pPr algn="just"/>
            <a:r>
              <a:rPr lang="en-US" sz="1800" b="1" dirty="0">
                <a:latin typeface="Times New Roman" pitchFamily="18" charset="0"/>
                <a:cs typeface="Times New Roman" pitchFamily="18" charset="0"/>
              </a:rPr>
              <a:t>The Personal Stun-A Smart Device For Women's Safety </a:t>
            </a:r>
            <a:r>
              <a:rPr lang="en-US" sz="1800" dirty="0" err="1">
                <a:latin typeface="Times New Roman" pitchFamily="18" charset="0"/>
                <a:cs typeface="Times New Roman" pitchFamily="18" charset="0"/>
                <a:hlinkClick r:id="rId2"/>
              </a:rPr>
              <a:t>Shivani</a:t>
            </a:r>
            <a:r>
              <a:rPr lang="en-US" sz="1800" dirty="0">
                <a:latin typeface="Times New Roman" pitchFamily="18" charset="0"/>
                <a:cs typeface="Times New Roman" pitchFamily="18" charset="0"/>
                <a:hlinkClick r:id="rId2"/>
              </a:rPr>
              <a:t> </a:t>
            </a:r>
            <a:r>
              <a:rPr lang="en-US" sz="1800" dirty="0" err="1">
                <a:latin typeface="Times New Roman" pitchFamily="18" charset="0"/>
                <a:cs typeface="Times New Roman" pitchFamily="18" charset="0"/>
                <a:hlinkClick r:id="rId2"/>
              </a:rPr>
              <a:t>Ahir</a:t>
            </a:r>
            <a:r>
              <a:rPr lang="en-US" sz="1800" dirty="0">
                <a:latin typeface="Times New Roman" pitchFamily="18" charset="0"/>
                <a:cs typeface="Times New Roman" pitchFamily="18" charset="0"/>
                <a:hlinkClick r:id="rId2"/>
              </a:rPr>
              <a:t> </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hlinkClick r:id="rId3"/>
              </a:rPr>
              <a:t>Smit</a:t>
            </a:r>
            <a:r>
              <a:rPr lang="en-US" sz="1800" dirty="0">
                <a:latin typeface="Times New Roman" pitchFamily="18" charset="0"/>
                <a:cs typeface="Times New Roman" pitchFamily="18" charset="0"/>
                <a:hlinkClick r:id="rId3"/>
              </a:rPr>
              <a:t> </a:t>
            </a:r>
            <a:r>
              <a:rPr lang="en-US" sz="1800" dirty="0" err="1">
                <a:latin typeface="Times New Roman" pitchFamily="18" charset="0"/>
                <a:cs typeface="Times New Roman" pitchFamily="18" charset="0"/>
                <a:hlinkClick r:id="rId3"/>
              </a:rPr>
              <a:t>Kapadia</a:t>
            </a:r>
            <a:r>
              <a:rPr lang="en-US" sz="1800" dirty="0">
                <a:latin typeface="Times New Roman" pitchFamily="18" charset="0"/>
                <a:cs typeface="Times New Roman" pitchFamily="18" charset="0"/>
              </a:rPr>
              <a:t> IEEE 2025.</a:t>
            </a:r>
          </a:p>
          <a:p>
            <a:pPr algn="just"/>
            <a:r>
              <a:rPr lang="en-US" sz="1800" dirty="0">
                <a:latin typeface="Times New Roman" pitchFamily="18" charset="0"/>
                <a:cs typeface="Times New Roman" pitchFamily="18" charset="0"/>
              </a:rPr>
              <a:t>Once the device is activated it starts sending the GPS location to the ICE contacts and police control rooms. There is a pulse rate sensor embedded in the device that senses the pulse rate of the person and a temperature senor that senses body temperature of the person. </a:t>
            </a:r>
          </a:p>
          <a:p>
            <a:pPr algn="just"/>
            <a:r>
              <a:rPr lang="en-US" sz="1800" dirty="0">
                <a:latin typeface="Times New Roman" pitchFamily="18" charset="0"/>
                <a:cs typeface="Times New Roman" pitchFamily="18" charset="0"/>
              </a:rPr>
              <a:t>The band when thrown with force the force sensor will get activated and sends the current location of the victim. A </a:t>
            </a:r>
            <a:r>
              <a:rPr lang="en-US" sz="1800" dirty="0" err="1">
                <a:latin typeface="Times New Roman" pitchFamily="18" charset="0"/>
                <a:cs typeface="Times New Roman" pitchFamily="18" charset="0"/>
              </a:rPr>
              <a:t>Piezo</a:t>
            </a:r>
            <a:r>
              <a:rPr lang="en-US" sz="1800" dirty="0">
                <a:latin typeface="Times New Roman" pitchFamily="18" charset="0"/>
                <a:cs typeface="Times New Roman" pitchFamily="18" charset="0"/>
              </a:rPr>
              <a:t> buzzer siren will get activated after 1-2 </a:t>
            </a:r>
            <a:r>
              <a:rPr lang="en-US" sz="1800" dirty="0" err="1">
                <a:latin typeface="Times New Roman" pitchFamily="18" charset="0"/>
                <a:cs typeface="Times New Roman" pitchFamily="18" charset="0"/>
              </a:rPr>
              <a:t>mins</a:t>
            </a:r>
            <a:r>
              <a:rPr lang="en-US" sz="1800" dirty="0">
                <a:latin typeface="Times New Roman" pitchFamily="18" charset="0"/>
                <a:cs typeface="Times New Roman" pitchFamily="18" charset="0"/>
              </a:rPr>
              <a:t> of the actual device getting turned on. The range of the buzzer is of 80-110 dB which can be heard from a distance of 50 feet long. </a:t>
            </a:r>
          </a:p>
          <a:p>
            <a:pPr algn="just"/>
            <a:r>
              <a:rPr lang="en-US" sz="1800" dirty="0">
                <a:latin typeface="Times New Roman" pitchFamily="18" charset="0"/>
                <a:cs typeface="Times New Roman" pitchFamily="18" charset="0"/>
              </a:rPr>
              <a:t>An electric shock circuit is designed that emits electric current. On the top of the band screen there are two metal points that generates the shock when the two metal points come in contact with any surface or anybody. The device supports a micro </a:t>
            </a:r>
            <a:r>
              <a:rPr lang="en-US" sz="1800" dirty="0" err="1">
                <a:latin typeface="Times New Roman" pitchFamily="18" charset="0"/>
                <a:cs typeface="Times New Roman" pitchFamily="18" charset="0"/>
              </a:rPr>
              <a:t>usb</a:t>
            </a:r>
            <a:r>
              <a:rPr lang="en-US" sz="1800" dirty="0">
                <a:latin typeface="Times New Roman" pitchFamily="18" charset="0"/>
                <a:cs typeface="Times New Roman" pitchFamily="18" charset="0"/>
              </a:rPr>
              <a:t> charging. </a:t>
            </a:r>
          </a:p>
          <a:p>
            <a:pPr algn="just"/>
            <a:r>
              <a:rPr lang="en-US" sz="1800" dirty="0">
                <a:latin typeface="Times New Roman" pitchFamily="18" charset="0"/>
                <a:cs typeface="Times New Roman" pitchFamily="18" charset="0"/>
              </a:rPr>
              <a:t>A smart application will be developed on the android platform which is connected with the device via </a:t>
            </a:r>
            <a:r>
              <a:rPr lang="en-US" sz="1800" dirty="0" err="1">
                <a:latin typeface="Times New Roman" pitchFamily="18" charset="0"/>
                <a:cs typeface="Times New Roman" pitchFamily="18" charset="0"/>
              </a:rPr>
              <a:t>bluetooth</a:t>
            </a:r>
            <a:r>
              <a:rPr lang="en-US" sz="1800" dirty="0">
                <a:latin typeface="Times New Roman" pitchFamily="18" charset="0"/>
                <a:cs typeface="Times New Roman" pitchFamily="18" charset="0"/>
              </a:rPr>
              <a:t> interface that shows the sensed data of the subject to the ICE contacts. Until the device is turned off it will send the location on the interval of 5 </a:t>
            </a:r>
            <a:r>
              <a:rPr lang="en-US" sz="1800" dirty="0" err="1">
                <a:latin typeface="Times New Roman" pitchFamily="18" charset="0"/>
                <a:cs typeface="Times New Roman" pitchFamily="18" charset="0"/>
              </a:rPr>
              <a:t>mins</a:t>
            </a:r>
            <a:r>
              <a:rPr lang="en-US" sz="1800" dirty="0">
                <a:latin typeface="Times New Roman" pitchFamily="18" charset="0"/>
                <a:cs typeface="Times New Roman" pitchFamily="18" charset="0"/>
              </a:rPr>
              <a:t> and will keep on beeping continuously.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14400" y="152400"/>
            <a:ext cx="7772400" cy="990600"/>
          </a:xfrm>
        </p:spPr>
        <p:txBody>
          <a:bodyPr/>
          <a:lstStyle/>
          <a:p>
            <a:pPr algn="ctr"/>
            <a:r>
              <a:rPr lang="en-US" b="1" dirty="0">
                <a:latin typeface="Times New Roman" pitchFamily="18" charset="0"/>
                <a:cs typeface="Times New Roman" pitchFamily="18" charset="0"/>
              </a:rPr>
              <a:t>LITERATURE SURVEY 4</a:t>
            </a:r>
          </a:p>
        </p:txBody>
      </p:sp>
      <p:sp>
        <p:nvSpPr>
          <p:cNvPr id="2" name="Content Placeholder 1"/>
          <p:cNvSpPr>
            <a:spLocks noGrp="1"/>
          </p:cNvSpPr>
          <p:nvPr>
            <p:ph sz="quarter" idx="1"/>
          </p:nvPr>
        </p:nvSpPr>
        <p:spPr>
          <a:xfrm>
            <a:off x="914400" y="1143000"/>
            <a:ext cx="7772400" cy="4876800"/>
          </a:xfrm>
        </p:spPr>
        <p:txBody>
          <a:bodyPr>
            <a:noAutofit/>
          </a:bodyPr>
          <a:lstStyle/>
          <a:p>
            <a:pPr algn="just"/>
            <a:r>
              <a:rPr lang="en-US" sz="1900" b="1" dirty="0">
                <a:latin typeface="Times New Roman" pitchFamily="18" charset="0"/>
                <a:cs typeface="Times New Roman" pitchFamily="18" charset="0"/>
              </a:rPr>
              <a:t>A mobile application for Women's Safety: </a:t>
            </a:r>
            <a:r>
              <a:rPr lang="en-US" sz="1900" b="1" dirty="0" err="1">
                <a:latin typeface="Times New Roman" pitchFamily="18" charset="0"/>
                <a:cs typeface="Times New Roman" pitchFamily="18" charset="0"/>
              </a:rPr>
              <a:t>WoS</a:t>
            </a:r>
            <a:r>
              <a:rPr lang="en-US" sz="1900" b="1" dirty="0">
                <a:latin typeface="Times New Roman" pitchFamily="18" charset="0"/>
                <a:cs typeface="Times New Roman" pitchFamily="18" charset="0"/>
              </a:rPr>
              <a:t> App </a:t>
            </a:r>
            <a:r>
              <a:rPr lang="en-US" sz="1900" dirty="0">
                <a:latin typeface="Times New Roman" pitchFamily="18" charset="0"/>
                <a:cs typeface="Times New Roman" pitchFamily="18" charset="0"/>
                <a:hlinkClick r:id="rId2"/>
              </a:rPr>
              <a:t>Dhruv Chand </a:t>
            </a:r>
            <a:r>
              <a:rPr lang="en-US" sz="1900" dirty="0">
                <a:latin typeface="Times New Roman" pitchFamily="18" charset="0"/>
                <a:cs typeface="Times New Roman" pitchFamily="18" charset="0"/>
              </a:rPr>
              <a:t>; </a:t>
            </a:r>
            <a:r>
              <a:rPr lang="en-US" sz="1900" dirty="0">
                <a:latin typeface="Times New Roman" pitchFamily="18" charset="0"/>
                <a:cs typeface="Times New Roman" pitchFamily="18" charset="0"/>
                <a:hlinkClick r:id="rId3"/>
              </a:rPr>
              <a:t>Sunil Nayak </a:t>
            </a:r>
            <a:r>
              <a:rPr lang="en-US" sz="1900" dirty="0">
                <a:latin typeface="Times New Roman" pitchFamily="18" charset="0"/>
                <a:cs typeface="Times New Roman" pitchFamily="18" charset="0"/>
              </a:rPr>
              <a:t> IEEE 2025.</a:t>
            </a:r>
          </a:p>
          <a:p>
            <a:pPr algn="just"/>
            <a:r>
              <a:rPr lang="en-US" sz="1900" dirty="0">
                <a:latin typeface="Times New Roman" pitchFamily="18" charset="0"/>
                <a:cs typeface="Times New Roman" pitchFamily="18" charset="0"/>
              </a:rPr>
              <a:t>The primary issue in the handling of these cases by the police lies in constraints preventing them from responding quickly to calls of distress. </a:t>
            </a:r>
          </a:p>
          <a:p>
            <a:pPr algn="just"/>
            <a:r>
              <a:rPr lang="en-US" sz="1900" dirty="0">
                <a:latin typeface="Times New Roman" pitchFamily="18" charset="0"/>
                <a:cs typeface="Times New Roman" pitchFamily="18" charset="0"/>
              </a:rPr>
              <a:t>These constraints include not knowing the location of the crime, and not knowing the crime is occurring at all: at the victim's end, reaching the police assuredly and discreetly is a challenge. To aid in the removal of these constraints, this paper introduces a mobile application called </a:t>
            </a:r>
            <a:r>
              <a:rPr lang="en-US" sz="1900" dirty="0" err="1">
                <a:latin typeface="Times New Roman" pitchFamily="18" charset="0"/>
                <a:cs typeface="Times New Roman" pitchFamily="18" charset="0"/>
              </a:rPr>
              <a:t>WoS</a:t>
            </a:r>
            <a:r>
              <a:rPr lang="en-US" sz="1900" dirty="0">
                <a:latin typeface="Times New Roman" pitchFamily="18" charset="0"/>
                <a:cs typeface="Times New Roman" pitchFamily="18" charset="0"/>
              </a:rPr>
              <a:t> App (Women's Safety App) that provides women with a reliable way to place an emergency call to the police. </a:t>
            </a:r>
          </a:p>
          <a:p>
            <a:pPr algn="just"/>
            <a:r>
              <a:rPr lang="en-US" sz="1900" dirty="0">
                <a:latin typeface="Times New Roman" pitchFamily="18" charset="0"/>
                <a:cs typeface="Times New Roman" pitchFamily="18" charset="0"/>
              </a:rPr>
              <a:t>The user can easily and discreetly trigger the calling function by shaking her phone, or by explicitly interacting with the user interface of the application via a simple press of a PANIC button on the screen. </a:t>
            </a:r>
          </a:p>
          <a:p>
            <a:pPr algn="just"/>
            <a:r>
              <a:rPr lang="en-US" sz="1900" dirty="0">
                <a:latin typeface="Times New Roman" pitchFamily="18" charset="0"/>
                <a:cs typeface="Times New Roman" pitchFamily="18" charset="0"/>
              </a:rPr>
              <a:t>A message containing the geographical location of the user, as well as contact details of a pre-selected list of emergency contacts, is immediately sent to the police. This paper describes the application, its development, and its technical implementation.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14400" y="228600"/>
            <a:ext cx="7772400" cy="990600"/>
          </a:xfrm>
        </p:spPr>
        <p:txBody>
          <a:bodyPr/>
          <a:lstStyle/>
          <a:p>
            <a:pPr algn="ctr"/>
            <a:r>
              <a:rPr lang="en-US" b="1" dirty="0">
                <a:latin typeface="Times New Roman" pitchFamily="18" charset="0"/>
                <a:cs typeface="Times New Roman" pitchFamily="18" charset="0"/>
              </a:rPr>
              <a:t>LITERATURE SURVEY 5</a:t>
            </a:r>
          </a:p>
        </p:txBody>
      </p:sp>
      <p:sp>
        <p:nvSpPr>
          <p:cNvPr id="2" name="Content Placeholder 1"/>
          <p:cNvSpPr>
            <a:spLocks noGrp="1"/>
          </p:cNvSpPr>
          <p:nvPr>
            <p:ph sz="quarter" idx="1"/>
          </p:nvPr>
        </p:nvSpPr>
        <p:spPr/>
        <p:txBody>
          <a:bodyPr>
            <a:normAutofit fontScale="77500" lnSpcReduction="20000"/>
          </a:bodyPr>
          <a:lstStyle/>
          <a:p>
            <a:pPr algn="just"/>
            <a:r>
              <a:rPr lang="en-US" b="1" dirty="0">
                <a:latin typeface="Times New Roman" pitchFamily="18" charset="0"/>
                <a:cs typeface="Times New Roman" pitchFamily="18" charset="0"/>
              </a:rPr>
              <a:t>Integrating technology into the mission of a women's center: creating a women's community with technology </a:t>
            </a:r>
            <a:r>
              <a:rPr lang="en-US" dirty="0">
                <a:latin typeface="Times New Roman" pitchFamily="18" charset="0"/>
                <a:cs typeface="Times New Roman" pitchFamily="18" charset="0"/>
                <a:hlinkClick r:id="rId2"/>
              </a:rPr>
              <a:t>L. </a:t>
            </a:r>
            <a:r>
              <a:rPr lang="en-US" dirty="0" err="1">
                <a:latin typeface="Times New Roman" pitchFamily="18" charset="0"/>
                <a:cs typeface="Times New Roman" pitchFamily="18" charset="0"/>
                <a:hlinkClick r:id="rId2"/>
              </a:rPr>
              <a:t>Otterson</a:t>
            </a:r>
            <a:r>
              <a:rPr lang="en-US" dirty="0">
                <a:latin typeface="Times New Roman" pitchFamily="18" charset="0"/>
                <a:cs typeface="Times New Roman" pitchFamily="18" charset="0"/>
                <a:hlinkClick r:id="rId2"/>
              </a:rPr>
              <a:t> </a:t>
            </a:r>
            <a:r>
              <a:rPr lang="en-US" dirty="0">
                <a:latin typeface="Times New Roman" pitchFamily="18" charset="0"/>
                <a:cs typeface="Times New Roman" pitchFamily="18" charset="0"/>
              </a:rPr>
              <a:t>; </a:t>
            </a:r>
            <a:r>
              <a:rPr lang="en-US" dirty="0">
                <a:latin typeface="Times New Roman" pitchFamily="18" charset="0"/>
                <a:cs typeface="Times New Roman" pitchFamily="18" charset="0"/>
                <a:hlinkClick r:id="rId3"/>
              </a:rPr>
              <a:t>D. </a:t>
            </a:r>
            <a:r>
              <a:rPr lang="en-US" dirty="0" err="1">
                <a:latin typeface="Times New Roman" pitchFamily="18" charset="0"/>
                <a:cs typeface="Times New Roman" pitchFamily="18" charset="0"/>
                <a:hlinkClick r:id="rId3"/>
              </a:rPr>
              <a:t>Dufner</a:t>
            </a:r>
            <a:r>
              <a:rPr lang="en-US" dirty="0">
                <a:latin typeface="Times New Roman" pitchFamily="18" charset="0"/>
                <a:cs typeface="Times New Roman" pitchFamily="18" charset="0"/>
              </a:rPr>
              <a:t> IEEE 2025.</a:t>
            </a:r>
          </a:p>
          <a:p>
            <a:pPr algn="just"/>
            <a:r>
              <a:rPr lang="en-US" dirty="0">
                <a:latin typeface="Times New Roman" pitchFamily="18" charset="0"/>
                <a:cs typeface="Times New Roman" pitchFamily="18" charset="0"/>
              </a:rPr>
              <a:t>The Center now has a successful 4-year history of teaching women and girls to use technology, of using technology to leverage the resources and time of staff, and of using a listserv to disseminate information to the regional community. </a:t>
            </a:r>
          </a:p>
          <a:p>
            <a:pPr algn="just"/>
            <a:r>
              <a:rPr lang="en-US" dirty="0">
                <a:latin typeface="Times New Roman" pitchFamily="18" charset="0"/>
                <a:cs typeface="Times New Roman" pitchFamily="18" charset="0"/>
              </a:rPr>
              <a:t>Benefits gained from the integration of technology into the mission of the Women's Center include enabling the university's female staff and students to learn the Web and other computer related skills in a non-threatening woman-centered environment; providing information to geographically dispersed women; and easy access of the Coordinating Council to the director. </a:t>
            </a:r>
          </a:p>
          <a:p>
            <a:pPr algn="just"/>
            <a:r>
              <a:rPr lang="en-US" dirty="0">
                <a:latin typeface="Times New Roman" pitchFamily="18" charset="0"/>
                <a:cs typeface="Times New Roman" pitchFamily="18" charset="0"/>
              </a:rPr>
              <a:t>The Central Illinois Women's Action (CIWA) listserv creates a community of networked women and enables the director to participate in all the area's women community organizations.</a:t>
            </a:r>
          </a:p>
          <a:p>
            <a:pPr algn="just"/>
            <a:endParaRPr lang="en-US"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14400" y="76200"/>
            <a:ext cx="7772400" cy="1066800"/>
          </a:xfrm>
        </p:spPr>
        <p:txBody>
          <a:bodyPr/>
          <a:lstStyle/>
          <a:p>
            <a:pPr algn="ctr"/>
            <a:r>
              <a:rPr lang="en-US" b="1" dirty="0">
                <a:latin typeface="Times New Roman" pitchFamily="18" charset="0"/>
                <a:cs typeface="Times New Roman" pitchFamily="18" charset="0"/>
              </a:rPr>
              <a:t>EXISTING SYSTEM</a:t>
            </a:r>
          </a:p>
        </p:txBody>
      </p:sp>
      <p:sp>
        <p:nvSpPr>
          <p:cNvPr id="2" name="Content Placeholder 1"/>
          <p:cNvSpPr>
            <a:spLocks noGrp="1"/>
          </p:cNvSpPr>
          <p:nvPr>
            <p:ph sz="quarter" idx="1"/>
          </p:nvPr>
        </p:nvSpPr>
        <p:spPr>
          <a:xfrm>
            <a:off x="914400" y="1295400"/>
            <a:ext cx="7696200" cy="5334000"/>
          </a:xfrm>
        </p:spPr>
        <p:txBody>
          <a:bodyPr>
            <a:noAutofit/>
          </a:bodyPr>
          <a:lstStyle/>
          <a:p>
            <a:r>
              <a:rPr lang="en-US" sz="2400" dirty="0"/>
              <a:t>Human trafficking detection mainly relies on CCTV and manual monitoring, which is ineffective in enclosed vehicles or isolated environments. </a:t>
            </a:r>
          </a:p>
          <a:p>
            <a:r>
              <a:rPr lang="en-US" sz="2400" dirty="0"/>
              <a:t>GPS tracking fails in indoor, underground, or metal-enclosed areas, making victims untraceable. </a:t>
            </a:r>
          </a:p>
          <a:p>
            <a:r>
              <a:rPr lang="en-US" sz="2400" dirty="0"/>
              <a:t>Emergency alert systems require manual activation, which is not possible if the victim is restrained or unconscious. </a:t>
            </a:r>
          </a:p>
          <a:p>
            <a:r>
              <a:rPr lang="en-US" sz="2400" dirty="0"/>
              <a:t>Most existing systems depend on smartphones, which may not be accessible during critical situations.</a:t>
            </a:r>
          </a:p>
          <a:p>
            <a:r>
              <a:rPr lang="en-US" sz="2400" dirty="0"/>
              <a:t>Current systems do not use physiological signals like heart rate or stress levels to detect danger. </a:t>
            </a:r>
          </a:p>
          <a:p>
            <a:r>
              <a:rPr lang="en-US" sz="2400" dirty="0"/>
              <a:t>iBeacon-based systems lack intelligence, secure alert transmission, and real-time detection capabilities. </a:t>
            </a:r>
          </a:p>
          <a:p>
            <a:pPr algn="just"/>
            <a:endParaRPr lang="en-US" sz="1800"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14400" y="152400"/>
            <a:ext cx="7772400" cy="1143000"/>
          </a:xfrm>
        </p:spPr>
        <p:txBody>
          <a:bodyPr>
            <a:normAutofit/>
          </a:bodyPr>
          <a:lstStyle/>
          <a:p>
            <a:pPr algn="ctr"/>
            <a:r>
              <a:rPr lang="en-US" sz="3200" b="1" dirty="0">
                <a:latin typeface="Times New Roman" pitchFamily="18" charset="0"/>
                <a:cs typeface="Times New Roman" pitchFamily="18" charset="0"/>
              </a:rPr>
              <a:t>EXISTING SYSTEM DISADVANATAGES</a:t>
            </a:r>
          </a:p>
        </p:txBody>
      </p:sp>
      <p:sp>
        <p:nvSpPr>
          <p:cNvPr id="2" name="Content Placeholder 1"/>
          <p:cNvSpPr>
            <a:spLocks noGrp="1"/>
          </p:cNvSpPr>
          <p:nvPr>
            <p:ph sz="quarter" idx="1"/>
          </p:nvPr>
        </p:nvSpPr>
        <p:spPr>
          <a:xfrm>
            <a:off x="914400" y="1447800"/>
            <a:ext cx="7772400" cy="5135562"/>
          </a:xfrm>
        </p:spPr>
        <p:txBody>
          <a:bodyPr/>
          <a:lstStyle/>
          <a:p>
            <a:r>
              <a:rPr lang="en-US" dirty="0">
                <a:cs typeface="Times New Roman" pitchFamily="18" charset="0"/>
              </a:rPr>
              <a:t>Not user friendly.</a:t>
            </a:r>
          </a:p>
          <a:p>
            <a:r>
              <a:rPr lang="en-US" dirty="0">
                <a:cs typeface="Times New Roman" pitchFamily="18" charset="0"/>
              </a:rPr>
              <a:t>Cannot be implemented in all places.</a:t>
            </a:r>
          </a:p>
          <a:p>
            <a:r>
              <a:rPr lang="en-US" dirty="0">
                <a:cs typeface="Times New Roman" pitchFamily="18" charset="0"/>
              </a:rPr>
              <a:t>Needs internet always.</a:t>
            </a:r>
          </a:p>
          <a:p>
            <a:r>
              <a:rPr lang="en-US" dirty="0">
                <a:cs typeface="Times New Roman" pitchFamily="18" charset="0"/>
              </a:rPr>
              <a:t>Cost will be high.</a:t>
            </a:r>
          </a:p>
          <a:p>
            <a:r>
              <a:rPr lang="en-US" dirty="0"/>
              <a:t>Cannot detect abnormal conditions automatically </a:t>
            </a:r>
          </a:p>
          <a:p>
            <a:r>
              <a:rPr lang="en-US" dirty="0"/>
              <a:t>Does not monitor user’s physical or stress condition </a:t>
            </a:r>
          </a:p>
          <a:p>
            <a:r>
              <a:rPr lang="en-US" dirty="0"/>
              <a:t>Less reliable in critical or high-risk situations </a:t>
            </a:r>
          </a:p>
          <a:p>
            <a:r>
              <a:rPr lang="en-US" dirty="0"/>
              <a:t>Cannot detect abnormal conditions automatically</a:t>
            </a:r>
          </a:p>
          <a:p>
            <a:r>
              <a:rPr lang="en-US" dirty="0"/>
              <a:t>Less reliable in critical or high-risk situations</a:t>
            </a:r>
          </a:p>
          <a:p>
            <a:r>
              <a:rPr lang="en-US" dirty="0"/>
              <a:t>GPS tracking fails in indoor or closed environments</a:t>
            </a:r>
          </a:p>
          <a:p>
            <a:endParaRPr lang="en-US" dirty="0"/>
          </a:p>
          <a:p>
            <a:endParaRPr lang="en-US"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14400" y="152400"/>
            <a:ext cx="7772400" cy="1066800"/>
          </a:xfrm>
        </p:spPr>
        <p:txBody>
          <a:bodyPr/>
          <a:lstStyle/>
          <a:p>
            <a:pPr algn="ctr"/>
            <a:r>
              <a:rPr lang="en-US" b="1" dirty="0">
                <a:latin typeface="Times New Roman" pitchFamily="18" charset="0"/>
                <a:cs typeface="Times New Roman" pitchFamily="18" charset="0"/>
              </a:rPr>
              <a:t>PROPOSED SYSTEM</a:t>
            </a:r>
          </a:p>
        </p:txBody>
      </p:sp>
      <p:sp>
        <p:nvSpPr>
          <p:cNvPr id="2" name="Content Placeholder 1"/>
          <p:cNvSpPr>
            <a:spLocks noGrp="1"/>
          </p:cNvSpPr>
          <p:nvPr>
            <p:ph sz="quarter" idx="1"/>
          </p:nvPr>
        </p:nvSpPr>
        <p:spPr/>
        <p:txBody>
          <a:bodyPr>
            <a:noAutofit/>
          </a:bodyPr>
          <a:lstStyle/>
          <a:p>
            <a:pPr lvl="0" algn="just"/>
            <a:r>
              <a:rPr lang="en-US" sz="2200" dirty="0"/>
              <a:t>AI-driven wearable Smartwatch integrates heart rate (MAX30102), MEMS accelerometer, and iBeacon BLE to monitor physiological and motion patterns continuously.</a:t>
            </a:r>
          </a:p>
          <a:p>
            <a:pPr lvl="0" algn="just"/>
            <a:r>
              <a:rPr lang="en-US" sz="2200" dirty="0"/>
              <a:t>Learns the user’s normal activity and stress levels to detect abnormal patterns indicative of forced transport.</a:t>
            </a:r>
          </a:p>
          <a:p>
            <a:pPr lvl="0" algn="just"/>
            <a:r>
              <a:rPr lang="en-US" sz="2200" dirty="0"/>
              <a:t>Automatically triggers silent rescue mode upon detecting potential abduction, without requiring manual activation.</a:t>
            </a:r>
          </a:p>
          <a:p>
            <a:pPr lvl="0" algn="just"/>
            <a:r>
              <a:rPr lang="en-US" sz="2200" dirty="0"/>
              <a:t>Broadcasts encrypted </a:t>
            </a:r>
            <a:r>
              <a:rPr lang="en-US" sz="2200" dirty="0" err="1"/>
              <a:t>IBeacon</a:t>
            </a:r>
            <a:r>
              <a:rPr lang="en-US" sz="2200" dirty="0"/>
              <a:t> distress signals and uploads motion + biometric data to authorized receivers when network is available.</a:t>
            </a:r>
          </a:p>
          <a:p>
            <a:pPr lvl="0" algn="just"/>
            <a:r>
              <a:rPr lang="en-US" sz="2200" dirty="0"/>
              <a:t>Enables real-time interception through BLE scanners at transit checkpoints, terminals, and patrol vehicles, ensuring covert victim protection even in GPS-denied environments.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pPr algn="ctr"/>
            <a:r>
              <a:rPr lang="en-US" b="1" dirty="0">
                <a:latin typeface="Times New Roman" pitchFamily="18" charset="0"/>
                <a:cs typeface="Times New Roman" pitchFamily="18" charset="0"/>
              </a:rPr>
              <a:t>PROPOSED SYSTEM ADVANTAGES</a:t>
            </a:r>
          </a:p>
        </p:txBody>
      </p:sp>
      <p:sp>
        <p:nvSpPr>
          <p:cNvPr id="2" name="Content Placeholder 1"/>
          <p:cNvSpPr>
            <a:spLocks noGrp="1"/>
          </p:cNvSpPr>
          <p:nvPr>
            <p:ph sz="quarter" idx="1"/>
          </p:nvPr>
        </p:nvSpPr>
        <p:spPr>
          <a:xfrm>
            <a:off x="914400" y="1143000"/>
            <a:ext cx="7772400" cy="4876800"/>
          </a:xfrm>
        </p:spPr>
        <p:txBody>
          <a:bodyPr>
            <a:normAutofit fontScale="92500" lnSpcReduction="10000"/>
          </a:bodyPr>
          <a:lstStyle/>
          <a:p>
            <a:pPr>
              <a:buNone/>
            </a:pPr>
            <a:endParaRPr lang="en-US" dirty="0">
              <a:latin typeface="Times New Roman" pitchFamily="18" charset="0"/>
              <a:cs typeface="Times New Roman" pitchFamily="18" charset="0"/>
            </a:endParaRPr>
          </a:p>
          <a:p>
            <a:r>
              <a:rPr lang="en-US" dirty="0"/>
              <a:t>The solution is low-cost and can be implemented easily in real-life scenarios.</a:t>
            </a:r>
            <a:endParaRPr lang="en-US" dirty="0">
              <a:latin typeface="Times New Roman" pitchFamily="18" charset="0"/>
              <a:cs typeface="Times New Roman" pitchFamily="18" charset="0"/>
            </a:endParaRPr>
          </a:p>
          <a:p>
            <a:r>
              <a:rPr lang="en-US" dirty="0"/>
              <a:t>The system works automatically without requiring any manual activation during emergency situations.</a:t>
            </a:r>
            <a:endParaRPr lang="en-US" dirty="0">
              <a:latin typeface="Times New Roman" pitchFamily="18" charset="0"/>
              <a:cs typeface="Times New Roman" pitchFamily="18" charset="0"/>
            </a:endParaRPr>
          </a:p>
          <a:p>
            <a:r>
              <a:rPr lang="en-US" dirty="0"/>
              <a:t>It uses iBeacon technology to send silent alerts without alerting the attacker.</a:t>
            </a:r>
          </a:p>
          <a:p>
            <a:r>
              <a:rPr lang="en-US" dirty="0"/>
              <a:t>It provides continuous monitoring of the user’s condition and surroundings.</a:t>
            </a:r>
          </a:p>
          <a:p>
            <a:r>
              <a:rPr lang="en-US" dirty="0"/>
              <a:t>It uses iBeacon technology to send silent alerts without alerting the attacker.</a:t>
            </a:r>
          </a:p>
          <a:p>
            <a:r>
              <a:rPr lang="en-US" dirty="0"/>
              <a:t>It ensures privacy by sending secure and encrypted distress signals.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b="1" dirty="0">
                <a:latin typeface="Times New Roman" pitchFamily="18" charset="0"/>
                <a:cs typeface="Times New Roman" pitchFamily="18" charset="0"/>
              </a:rPr>
              <a:t>BLOCK DIAGRAM</a:t>
            </a:r>
          </a:p>
        </p:txBody>
      </p:sp>
      <p:pic>
        <p:nvPicPr>
          <p:cNvPr id="1026" name="Picture 2"/>
          <p:cNvPicPr>
            <a:picLocks noChangeAspect="1" noChangeArrowheads="1"/>
          </p:cNvPicPr>
          <p:nvPr/>
        </p:nvPicPr>
        <p:blipFill>
          <a:blip r:embed="rId2"/>
          <a:srcRect/>
          <a:stretch>
            <a:fillRect/>
          </a:stretch>
        </p:blipFill>
        <p:spPr bwMode="auto">
          <a:xfrm>
            <a:off x="838200" y="1371600"/>
            <a:ext cx="7086600" cy="5019675"/>
          </a:xfrm>
          <a:prstGeom prst="rect">
            <a:avLst/>
          </a:prstGeom>
          <a:noFill/>
          <a:ln w="9525">
            <a:noFill/>
            <a:miter lim="800000"/>
            <a:headEnd/>
            <a:tailEnd/>
          </a:ln>
          <a:effectLst/>
        </p:spPr>
      </p:pic>
      <p:pic>
        <p:nvPicPr>
          <p:cNvPr id="2" name="Picture 2">
            <a:extLst>
              <a:ext uri="{FF2B5EF4-FFF2-40B4-BE49-F238E27FC236}">
                <a16:creationId xmlns:a16="http://schemas.microsoft.com/office/drawing/2014/main" id="{68E61E56-B29D-7731-851D-20D5D717E6EA}"/>
              </a:ext>
            </a:extLst>
          </p:cNvPr>
          <p:cNvPicPr>
            <a:picLocks noChangeAspect="1" noChangeArrowheads="1"/>
          </p:cNvPicPr>
          <p:nvPr/>
        </p:nvPicPr>
        <p:blipFill>
          <a:blip r:embed="rId2"/>
          <a:srcRect/>
          <a:stretch>
            <a:fillRect/>
          </a:stretch>
        </p:blipFill>
        <p:spPr bwMode="auto">
          <a:xfrm>
            <a:off x="762000" y="1417638"/>
            <a:ext cx="7086600" cy="5019675"/>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b="1" dirty="0">
                <a:latin typeface="Times New Roman" pitchFamily="18" charset="0"/>
                <a:cs typeface="Times New Roman" pitchFamily="18" charset="0"/>
              </a:rPr>
              <a:t>HARDWARE USED</a:t>
            </a:r>
          </a:p>
        </p:txBody>
      </p:sp>
      <p:sp>
        <p:nvSpPr>
          <p:cNvPr id="2" name="Content Placeholder 1"/>
          <p:cNvSpPr>
            <a:spLocks noGrp="1"/>
          </p:cNvSpPr>
          <p:nvPr>
            <p:ph sz="quarter" idx="1"/>
          </p:nvPr>
        </p:nvSpPr>
        <p:spPr/>
        <p:txBody>
          <a:bodyPr>
            <a:normAutofit/>
          </a:bodyPr>
          <a:lstStyle/>
          <a:p>
            <a:r>
              <a:rPr lang="en-US" dirty="0">
                <a:latin typeface="Times New Roman" pitchFamily="18" charset="0"/>
                <a:cs typeface="Times New Roman" pitchFamily="18" charset="0"/>
              </a:rPr>
              <a:t>ESP32 Controller.</a:t>
            </a:r>
          </a:p>
          <a:p>
            <a:r>
              <a:rPr lang="en-US" dirty="0">
                <a:latin typeface="Times New Roman" pitchFamily="18" charset="0"/>
                <a:cs typeface="Times New Roman" pitchFamily="18" charset="0"/>
              </a:rPr>
              <a:t>OLED display.</a:t>
            </a:r>
          </a:p>
          <a:p>
            <a:r>
              <a:rPr lang="en-US" dirty="0">
                <a:latin typeface="Times New Roman" pitchFamily="18" charset="0"/>
                <a:cs typeface="Times New Roman" pitchFamily="18" charset="0"/>
              </a:rPr>
              <a:t>I2C board.</a:t>
            </a:r>
          </a:p>
          <a:p>
            <a:r>
              <a:rPr lang="en-US" dirty="0">
                <a:latin typeface="Times New Roman" pitchFamily="18" charset="0"/>
                <a:cs typeface="Times New Roman" pitchFamily="18" charset="0"/>
              </a:rPr>
              <a:t>Heartbeat sensor.</a:t>
            </a:r>
          </a:p>
          <a:p>
            <a:r>
              <a:rPr lang="en-US" dirty="0">
                <a:latin typeface="Times New Roman" pitchFamily="18" charset="0"/>
                <a:cs typeface="Times New Roman" pitchFamily="18" charset="0"/>
              </a:rPr>
              <a:t>MEMS detector.</a:t>
            </a:r>
          </a:p>
          <a:p>
            <a:r>
              <a:rPr lang="en-US" dirty="0">
                <a:latin typeface="Times New Roman" pitchFamily="18" charset="0"/>
                <a:cs typeface="Times New Roman" pitchFamily="18" charset="0"/>
              </a:rPr>
              <a:t>Switch.</a:t>
            </a:r>
          </a:p>
          <a:p>
            <a:pPr lvl="0"/>
            <a:r>
              <a:rPr lang="en-US" dirty="0">
                <a:latin typeface="Times New Roman" pitchFamily="18" charset="0"/>
                <a:cs typeface="Times New Roman" pitchFamily="18" charset="0"/>
              </a:rPr>
              <a:t>I beacon.</a:t>
            </a:r>
          </a:p>
          <a:p>
            <a:r>
              <a:rPr lang="en-US" dirty="0">
                <a:latin typeface="Times New Roman" pitchFamily="18" charset="0"/>
                <a:cs typeface="Times New Roman" pitchFamily="18" charset="0"/>
              </a:rPr>
              <a:t>Power supply.</a:t>
            </a:r>
          </a:p>
          <a:p>
            <a:endParaRPr lang="en-US" dirty="0">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b="1" dirty="0">
                <a:latin typeface="Times New Roman" pitchFamily="18" charset="0"/>
                <a:cs typeface="Times New Roman" pitchFamily="18" charset="0"/>
              </a:rPr>
              <a:t>SOFTWARE USED </a:t>
            </a:r>
          </a:p>
        </p:txBody>
      </p:sp>
      <p:sp>
        <p:nvSpPr>
          <p:cNvPr id="2" name="Content Placeholder 1"/>
          <p:cNvSpPr>
            <a:spLocks noGrp="1"/>
          </p:cNvSpPr>
          <p:nvPr>
            <p:ph sz="quarter" idx="1"/>
          </p:nvPr>
        </p:nvSpPr>
        <p:spPr/>
        <p:txBody>
          <a:bodyPr/>
          <a:lstStyle/>
          <a:p>
            <a:pPr marL="0" indent="0">
              <a:buNone/>
            </a:pPr>
            <a:r>
              <a:rPr lang="en-US" b="1" dirty="0">
                <a:latin typeface="Times New Roman" pitchFamily="18" charset="0"/>
                <a:cs typeface="Times New Roman" pitchFamily="18" charset="0"/>
              </a:rPr>
              <a:t>Programming Languages:</a:t>
            </a:r>
          </a:p>
          <a:p>
            <a:pPr lvl="0"/>
            <a:r>
              <a:rPr lang="en-US" dirty="0">
                <a:latin typeface="Times New Roman" pitchFamily="18" charset="0"/>
                <a:cs typeface="Times New Roman" pitchFamily="18" charset="0"/>
              </a:rPr>
              <a:t>Embedded C</a:t>
            </a:r>
          </a:p>
          <a:p>
            <a:pPr lvl="0"/>
            <a:r>
              <a:rPr lang="en-US" dirty="0">
                <a:latin typeface="Times New Roman" pitchFamily="18" charset="0"/>
                <a:cs typeface="Times New Roman" pitchFamily="18" charset="0"/>
              </a:rPr>
              <a:t>python  </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a:p>
            <a:pPr marL="0" indent="0">
              <a:buNone/>
            </a:pPr>
            <a:r>
              <a:rPr lang="en-US" b="1" dirty="0">
                <a:latin typeface="Times New Roman" pitchFamily="18" charset="0"/>
                <a:cs typeface="Times New Roman" pitchFamily="18" charset="0"/>
              </a:rPr>
              <a:t>Integrated Development Environment (IDE):</a:t>
            </a:r>
            <a:r>
              <a:rPr lang="en-US" dirty="0">
                <a:latin typeface="Times New Roman" pitchFamily="18" charset="0"/>
                <a:cs typeface="Times New Roman" pitchFamily="18" charset="0"/>
              </a:rPr>
              <a:t>	</a:t>
            </a:r>
          </a:p>
          <a:p>
            <a:pPr lvl="0"/>
            <a:r>
              <a:rPr lang="en-US" dirty="0" err="1">
                <a:latin typeface="Times New Roman" pitchFamily="18" charset="0"/>
                <a:cs typeface="Times New Roman" pitchFamily="18" charset="0"/>
              </a:rPr>
              <a:t>Thonny</a:t>
            </a:r>
            <a:r>
              <a:rPr lang="en-US" dirty="0">
                <a:latin typeface="Times New Roman" pitchFamily="18" charset="0"/>
                <a:cs typeface="Times New Roman" pitchFamily="18" charset="0"/>
              </a:rPr>
              <a:t> IDE</a:t>
            </a:r>
          </a:p>
          <a:p>
            <a:pPr lvl="0"/>
            <a:r>
              <a:rPr lang="en-US" dirty="0">
                <a:latin typeface="Times New Roman" pitchFamily="18" charset="0"/>
                <a:cs typeface="Times New Roman" pitchFamily="18" charset="0"/>
              </a:rPr>
              <a:t>Visual Studio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14400" y="-144463"/>
            <a:ext cx="7772400" cy="1439863"/>
          </a:xfrm>
        </p:spPr>
        <p:txBody>
          <a:bodyPr>
            <a:normAutofit/>
          </a:bodyPr>
          <a:lstStyle/>
          <a:p>
            <a:pPr algn="ctr">
              <a:defRPr/>
            </a:pPr>
            <a:r>
              <a:rPr lang="en-US" b="1" dirty="0">
                <a:latin typeface="Times New Roman" pitchFamily="18" charset="0"/>
                <a:cs typeface="Times New Roman" pitchFamily="18" charset="0"/>
              </a:rPr>
              <a:t>ESP32 MICROCONTROLLER</a:t>
            </a:r>
          </a:p>
        </p:txBody>
      </p:sp>
      <p:sp>
        <p:nvSpPr>
          <p:cNvPr id="25602" name="Content Placeholder 5"/>
          <p:cNvSpPr>
            <a:spLocks noGrp="1"/>
          </p:cNvSpPr>
          <p:nvPr>
            <p:ph sz="quarter" idx="1"/>
          </p:nvPr>
        </p:nvSpPr>
        <p:spPr/>
        <p:txBody>
          <a:bodyPr>
            <a:normAutofit fontScale="92500" lnSpcReduction="20000"/>
          </a:bodyPr>
          <a:lstStyle/>
          <a:p>
            <a:pPr algn="just"/>
            <a:r>
              <a:rPr lang="en-US" sz="2000" b="1" dirty="0">
                <a:latin typeface="Times New Roman" pitchFamily="18" charset="0"/>
                <a:cs typeface="Times New Roman" pitchFamily="18" charset="0"/>
              </a:rPr>
              <a:t>ESP32</a:t>
            </a:r>
            <a:r>
              <a:rPr lang="en-US" sz="2000" dirty="0">
                <a:latin typeface="Times New Roman" pitchFamily="18" charset="0"/>
                <a:cs typeface="Times New Roman" pitchFamily="18" charset="0"/>
              </a:rPr>
              <a:t> is a microcontroller board based on the ATmega328P. It has 14 digital input/output pins (of which 6 can be used as PWM outputs), 6 analog inputs, a 16 MHz ceramic resonator (CSTCE16M0V53-R0), a USB connection, a power jack, an ICSP header and a reset button. </a:t>
            </a:r>
          </a:p>
          <a:p>
            <a:pPr algn="just"/>
            <a:r>
              <a:rPr lang="en-US" sz="2000" dirty="0">
                <a:latin typeface="Times New Roman" pitchFamily="18" charset="0"/>
                <a:cs typeface="Times New Roman" pitchFamily="18" charset="0"/>
              </a:rPr>
              <a:t>It contains everything needed to support the microcontroller; simply connect it to a computer with a USB cable or power it with a AC-to-DC adapter or battery to get started..</a:t>
            </a:r>
          </a:p>
          <a:p>
            <a:pPr algn="just"/>
            <a:r>
              <a:rPr lang="en-US" sz="2000" dirty="0">
                <a:latin typeface="Times New Roman" pitchFamily="18" charset="0"/>
                <a:cs typeface="Times New Roman" pitchFamily="18" charset="0"/>
              </a:rPr>
              <a:t>You can tinker with your Uno without worrying too much about doing something wrong, worst case scenario you can replace the chip for a few dollars and start over again.</a:t>
            </a:r>
          </a:p>
          <a:p>
            <a:pPr algn="just"/>
            <a:r>
              <a:rPr lang="en-US" sz="2000" dirty="0">
                <a:latin typeface="Times New Roman" pitchFamily="18" charset="0"/>
                <a:cs typeface="Times New Roman" pitchFamily="18" charset="0"/>
              </a:rPr>
              <a:t> "Uno" means one in Italian and was chosen to mark the release of Arduino Software (IDE) 1.0. The Uno board and version 1.0 of Arduino Software (IDE) were the reference versions of Arduino, now evolved to newer releases. </a:t>
            </a:r>
          </a:p>
          <a:p>
            <a:pPr algn="just"/>
            <a:r>
              <a:rPr lang="en-US" sz="2000" dirty="0">
                <a:latin typeface="Times New Roman" pitchFamily="18" charset="0"/>
                <a:cs typeface="Times New Roman" pitchFamily="18" charset="0"/>
              </a:rPr>
              <a:t>The Uno board is the first in a series of USB Arduino boards, and the reference model for the Arduino platform; for an extensive list of current, past or outdated boards see the Arduino index of boards.</a:t>
            </a:r>
          </a:p>
          <a:p>
            <a:endParaRPr lang="en-US" sz="2000" dirty="0"/>
          </a:p>
        </p:txBody>
      </p:sp>
      <p:sp>
        <p:nvSpPr>
          <p:cNvPr id="25604" name="AutoShape 2" descr="Arduino Uno - Wikipedia"/>
          <p:cNvSpPr>
            <a:spLocks noChangeAspect="1" noChangeArrowheads="1"/>
          </p:cNvSpPr>
          <p:nvPr/>
        </p:nvSpPr>
        <p:spPr bwMode="auto">
          <a:xfrm>
            <a:off x="144463" y="-144463"/>
            <a:ext cx="304800" cy="304801"/>
          </a:xfrm>
          <a:prstGeom prst="rect">
            <a:avLst/>
          </a:prstGeom>
          <a:noFill/>
          <a:ln w="9525">
            <a:noFill/>
            <a:miter lim="800000"/>
            <a:headEnd/>
            <a:tailEnd/>
          </a:ln>
        </p:spPr>
        <p:txBody>
          <a:bodyPr/>
          <a:lstStyle/>
          <a:p>
            <a:endParaRPr lang="en-US"/>
          </a:p>
        </p:txBody>
      </p:sp>
      <p:sp>
        <p:nvSpPr>
          <p:cNvPr id="25605" name="AutoShape 4" descr="Arduino Uno - Wikipedia"/>
          <p:cNvSpPr>
            <a:spLocks noChangeAspect="1" noChangeArrowheads="1"/>
          </p:cNvSpPr>
          <p:nvPr/>
        </p:nvSpPr>
        <p:spPr bwMode="auto">
          <a:xfrm>
            <a:off x="144463" y="-144463"/>
            <a:ext cx="304800" cy="304801"/>
          </a:xfrm>
          <a:prstGeom prst="rect">
            <a:avLst/>
          </a:prstGeom>
          <a:noFill/>
          <a:ln w="9525">
            <a:noFill/>
            <a:miter lim="800000"/>
            <a:headEnd/>
            <a:tailEnd/>
          </a:ln>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1143000"/>
          </a:xfrm>
        </p:spPr>
        <p:txBody>
          <a:bodyPr/>
          <a:lstStyle/>
          <a:p>
            <a:pPr algn="ctr"/>
            <a:r>
              <a:rPr lang="en-US" b="1" dirty="0">
                <a:latin typeface="Times New Roman" pitchFamily="18" charset="0"/>
                <a:cs typeface="Times New Roman" pitchFamily="18" charset="0"/>
              </a:rPr>
              <a:t>HEARTBEAT SENSOR</a:t>
            </a:r>
          </a:p>
        </p:txBody>
      </p:sp>
      <p:sp>
        <p:nvSpPr>
          <p:cNvPr id="3" name="Content Placeholder 2"/>
          <p:cNvSpPr>
            <a:spLocks noGrp="1"/>
          </p:cNvSpPr>
          <p:nvPr>
            <p:ph sz="quarter" idx="1"/>
          </p:nvPr>
        </p:nvSpPr>
        <p:spPr>
          <a:xfrm>
            <a:off x="914400" y="914400"/>
            <a:ext cx="7772400" cy="5105400"/>
          </a:xfrm>
        </p:spPr>
        <p:txBody>
          <a:bodyPr>
            <a:normAutofit/>
          </a:bodyPr>
          <a:lstStyle/>
          <a:p>
            <a:pPr algn="just"/>
            <a:r>
              <a:rPr lang="en-US" dirty="0">
                <a:latin typeface="Times New Roman" pitchFamily="18" charset="0"/>
                <a:cs typeface="Times New Roman" pitchFamily="18" charset="0"/>
              </a:rPr>
              <a:t>Heartbeat Sensor is an electronic device that is used to measure the heart rate i.e. speed of the heartbeat. </a:t>
            </a:r>
          </a:p>
          <a:p>
            <a:pPr algn="just"/>
            <a:r>
              <a:rPr lang="en-US" dirty="0">
                <a:latin typeface="Times New Roman" pitchFamily="18" charset="0"/>
                <a:cs typeface="Times New Roman" pitchFamily="18" charset="0"/>
              </a:rPr>
              <a:t>Monitoring body temperature, heart rate and blood pressure are the basic things that we do in order to keep us healthy.</a:t>
            </a:r>
          </a:p>
          <a:p>
            <a:pPr algn="just"/>
            <a:r>
              <a:rPr lang="en-US" dirty="0">
                <a:latin typeface="Times New Roman" pitchFamily="18" charset="0"/>
                <a:cs typeface="Times New Roman" pitchFamily="18" charset="0"/>
              </a:rPr>
              <a:t>Heart Rate can be monitored in two ways: one way is to manually check the pulse either at wrists or neck and the other way is to use a Heartbeat Sensor.</a:t>
            </a:r>
          </a:p>
          <a:p>
            <a:pPr algn="just"/>
            <a:endParaRPr lang="en-US" dirty="0">
              <a:latin typeface="Times New Roman" pitchFamily="18" charset="0"/>
              <a:cs typeface="Times New Roman" pitchFamily="18" charset="0"/>
            </a:endParaRPr>
          </a:p>
          <a:p>
            <a:endParaRPr lang="en-US" dirty="0"/>
          </a:p>
        </p:txBody>
      </p:sp>
      <p:pic>
        <p:nvPicPr>
          <p:cNvPr id="1026" name="Picture 2"/>
          <p:cNvPicPr>
            <a:picLocks noChangeAspect="1" noChangeArrowheads="1"/>
          </p:cNvPicPr>
          <p:nvPr/>
        </p:nvPicPr>
        <p:blipFill>
          <a:blip r:embed="rId2"/>
          <a:srcRect/>
          <a:stretch>
            <a:fillRect/>
          </a:stretch>
        </p:blipFill>
        <p:spPr bwMode="auto">
          <a:xfrm>
            <a:off x="2200275" y="4724400"/>
            <a:ext cx="4743450" cy="1676400"/>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14400" y="0"/>
            <a:ext cx="7772400" cy="838200"/>
          </a:xfrm>
        </p:spPr>
        <p:txBody>
          <a:bodyPr/>
          <a:lstStyle/>
          <a:p>
            <a:pPr algn="ctr"/>
            <a:r>
              <a:rPr lang="en-US" b="1" dirty="0">
                <a:latin typeface="Times New Roman" pitchFamily="18" charset="0"/>
                <a:cs typeface="Times New Roman" pitchFamily="18" charset="0"/>
              </a:rPr>
              <a:t>MEMS SENSOR</a:t>
            </a:r>
          </a:p>
        </p:txBody>
      </p:sp>
      <p:sp>
        <p:nvSpPr>
          <p:cNvPr id="2" name="Content Placeholder 1"/>
          <p:cNvSpPr>
            <a:spLocks noGrp="1"/>
          </p:cNvSpPr>
          <p:nvPr>
            <p:ph sz="quarter" idx="1"/>
          </p:nvPr>
        </p:nvSpPr>
        <p:spPr>
          <a:xfrm>
            <a:off x="914400" y="838200"/>
            <a:ext cx="7772400" cy="5181600"/>
          </a:xfrm>
        </p:spPr>
        <p:txBody>
          <a:bodyPr>
            <a:normAutofit/>
          </a:bodyPr>
          <a:lstStyle/>
          <a:p>
            <a:pPr algn="just"/>
            <a:r>
              <a:rPr lang="en-US" sz="2400" dirty="0">
                <a:latin typeface="Times New Roman" pitchFamily="18" charset="0"/>
                <a:cs typeface="Times New Roman" pitchFamily="18" charset="0"/>
              </a:rPr>
              <a:t>The term MEMS stands for micro-electro-mechanical systems. </a:t>
            </a:r>
          </a:p>
          <a:p>
            <a:pPr algn="just"/>
            <a:r>
              <a:rPr lang="en-US" sz="2400" dirty="0">
                <a:latin typeface="Times New Roman" pitchFamily="18" charset="0"/>
                <a:cs typeface="Times New Roman" pitchFamily="18" charset="0"/>
              </a:rPr>
              <a:t>These are a set of devices, and the characterization of these devices can be done by their tiny size &amp; the designing mode. </a:t>
            </a:r>
          </a:p>
          <a:p>
            <a:pPr algn="just"/>
            <a:r>
              <a:rPr lang="en-US" sz="2400" dirty="0">
                <a:latin typeface="Times New Roman" pitchFamily="18" charset="0"/>
                <a:cs typeface="Times New Roman" pitchFamily="18" charset="0"/>
              </a:rPr>
              <a:t>The designing of these sensors can be done with the 1- 100-micrometer </a:t>
            </a:r>
            <a:r>
              <a:rPr lang="en-US" sz="2400" dirty="0">
                <a:latin typeface="Times New Roman" pitchFamily="18" charset="0"/>
                <a:cs typeface="Times New Roman" pitchFamily="18" charset="0"/>
                <a:hlinkClick r:id="rId2"/>
              </a:rPr>
              <a:t>components</a:t>
            </a:r>
            <a:r>
              <a:rPr lang="en-US" sz="2400" dirty="0">
                <a:latin typeface="Times New Roman" pitchFamily="18" charset="0"/>
                <a:cs typeface="Times New Roman" pitchFamily="18" charset="0"/>
              </a:rPr>
              <a:t>. </a:t>
            </a:r>
          </a:p>
          <a:p>
            <a:pPr algn="just"/>
            <a:r>
              <a:rPr lang="en-US" sz="2400" dirty="0">
                <a:latin typeface="Times New Roman" pitchFamily="18" charset="0"/>
                <a:cs typeface="Times New Roman" pitchFamily="18" charset="0"/>
              </a:rPr>
              <a:t>These devices can differ from small structures to very difficult electromechanical systems with numerous moving elements beneath the control of incorporated micro-electronics. </a:t>
            </a:r>
          </a:p>
          <a:p>
            <a:pPr algn="just"/>
            <a:endParaRPr lang="en-US" sz="2400" dirty="0">
              <a:latin typeface="Times New Roman" pitchFamily="18" charset="0"/>
              <a:cs typeface="Times New Roman" pitchFamily="18" charset="0"/>
            </a:endParaRPr>
          </a:p>
        </p:txBody>
      </p:sp>
      <p:pic>
        <p:nvPicPr>
          <p:cNvPr id="34818" name="Picture 2" descr="MEMS Accelerometer Sensor ADXL335 : Copper: Amazon.in: Industrial &amp;  Scientific"/>
          <p:cNvPicPr>
            <a:picLocks noChangeAspect="1" noChangeArrowheads="1"/>
          </p:cNvPicPr>
          <p:nvPr/>
        </p:nvPicPr>
        <p:blipFill>
          <a:blip r:embed="rId3"/>
          <a:srcRect/>
          <a:stretch>
            <a:fillRect/>
          </a:stretch>
        </p:blipFill>
        <p:spPr bwMode="auto">
          <a:xfrm>
            <a:off x="3286125" y="4800600"/>
            <a:ext cx="2571750" cy="1885951"/>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14400" y="0"/>
            <a:ext cx="7772400" cy="1066800"/>
          </a:xfrm>
        </p:spPr>
        <p:txBody>
          <a:bodyPr/>
          <a:lstStyle/>
          <a:p>
            <a:pPr algn="ctr"/>
            <a:r>
              <a:rPr lang="en-US" b="1" dirty="0">
                <a:latin typeface="Times New Roman" pitchFamily="18" charset="0"/>
                <a:cs typeface="Times New Roman" pitchFamily="18" charset="0"/>
              </a:rPr>
              <a:t>IBEACON</a:t>
            </a:r>
          </a:p>
        </p:txBody>
      </p:sp>
      <p:sp>
        <p:nvSpPr>
          <p:cNvPr id="2" name="Content Placeholder 1"/>
          <p:cNvSpPr>
            <a:spLocks noGrp="1"/>
          </p:cNvSpPr>
          <p:nvPr>
            <p:ph sz="quarter" idx="1"/>
          </p:nvPr>
        </p:nvSpPr>
        <p:spPr>
          <a:xfrm>
            <a:off x="838200" y="1143000"/>
            <a:ext cx="7772400" cy="5410200"/>
          </a:xfrm>
        </p:spPr>
        <p:txBody>
          <a:bodyPr>
            <a:normAutofit fontScale="92500" lnSpcReduction="10000"/>
          </a:bodyPr>
          <a:lstStyle/>
          <a:p>
            <a:pPr algn="just"/>
            <a:r>
              <a:rPr lang="en-US" sz="2400" dirty="0">
                <a:latin typeface="Times New Roman" pitchFamily="18" charset="0"/>
                <a:cs typeface="Times New Roman" pitchFamily="18" charset="0"/>
              </a:rPr>
              <a:t>iBeacon is a Bluetooth Low Energy (BLE) technology developed by Apple that allows mobile applications to detect and interact with physical beacons placed in the environment. </a:t>
            </a:r>
          </a:p>
          <a:p>
            <a:pPr algn="just"/>
            <a:r>
              <a:rPr lang="en-US" sz="2400" dirty="0">
                <a:latin typeface="Times New Roman" pitchFamily="18" charset="0"/>
                <a:cs typeface="Times New Roman" pitchFamily="18" charset="0"/>
              </a:rPr>
              <a:t>These beacons transmit signals that can be detected by compatible devices like smartphones and tablets within a specific proximity. </a:t>
            </a:r>
          </a:p>
          <a:p>
            <a:pPr algn="just"/>
            <a:r>
              <a:rPr lang="en-US" sz="2400" dirty="0">
                <a:latin typeface="Times New Roman" pitchFamily="18" charset="0"/>
                <a:cs typeface="Times New Roman" pitchFamily="18" charset="0"/>
              </a:rPr>
              <a:t>When a device enters the range of an iBeacon, it can trigger actions such as sending notifications, providing location-based services, or initiating app-specific tasks. </a:t>
            </a:r>
          </a:p>
          <a:p>
            <a:pPr algn="just"/>
            <a:r>
              <a:rPr lang="en-US" sz="2400" dirty="0">
                <a:latin typeface="Times New Roman" pitchFamily="18" charset="0"/>
                <a:cs typeface="Times New Roman" pitchFamily="18" charset="0"/>
              </a:rPr>
              <a:t>iBeacon are commonly used for proximity marketing, location tracking, asset management, and indoor navigation, offering businesses the ability to engage with users in real-time based on their physical location. </a:t>
            </a:r>
          </a:p>
          <a:p>
            <a:pPr algn="just"/>
            <a:r>
              <a:rPr lang="en-US" sz="2400" dirty="0">
                <a:latin typeface="Times New Roman" pitchFamily="18" charset="0"/>
                <a:cs typeface="Times New Roman" pitchFamily="18" charset="0"/>
              </a:rPr>
              <a:t>This technology is widely adopted in retail stores, museums, airports, and other venues for enhanced user experiences.</a:t>
            </a:r>
          </a:p>
          <a:p>
            <a:pPr marL="0" indent="0" algn="just">
              <a:buNone/>
            </a:pPr>
            <a:endParaRPr lang="en-US" sz="2400" dirty="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1000" y="152400"/>
            <a:ext cx="8229600" cy="990600"/>
          </a:xfrm>
        </p:spPr>
        <p:txBody>
          <a:bodyPr/>
          <a:lstStyle/>
          <a:p>
            <a:pPr algn="ctr"/>
            <a:r>
              <a:rPr lang="en-US" b="1" dirty="0">
                <a:latin typeface="Times New Roman" pitchFamily="18" charset="0"/>
                <a:cs typeface="Times New Roman" pitchFamily="18" charset="0"/>
              </a:rPr>
              <a:t>CONCLUSION</a:t>
            </a:r>
          </a:p>
        </p:txBody>
      </p:sp>
      <p:sp>
        <p:nvSpPr>
          <p:cNvPr id="2" name="Content Placeholder 1"/>
          <p:cNvSpPr>
            <a:spLocks noGrp="1"/>
          </p:cNvSpPr>
          <p:nvPr>
            <p:ph sz="quarter" idx="1"/>
          </p:nvPr>
        </p:nvSpPr>
        <p:spPr>
          <a:xfrm>
            <a:off x="914400" y="1447800"/>
            <a:ext cx="7772400" cy="4953000"/>
          </a:xfrm>
        </p:spPr>
        <p:txBody>
          <a:bodyPr>
            <a:normAutofit/>
          </a:bodyPr>
          <a:lstStyle/>
          <a:p>
            <a:pPr algn="just"/>
            <a:r>
              <a:rPr lang="en-US" dirty="0">
                <a:latin typeface="Times New Roman" pitchFamily="18" charset="0"/>
                <a:cs typeface="Times New Roman" pitchFamily="18" charset="0"/>
              </a:rPr>
              <a:t>Our efforts behind the project are to set up and manufacture a small, self-contained component in itself, which benefits from a personal safety system, which is an immediate response system for women in crime incidents. </a:t>
            </a:r>
          </a:p>
          <a:p>
            <a:pPr algn="just"/>
            <a:r>
              <a:rPr lang="en-US" dirty="0">
                <a:latin typeface="Times New Roman" pitchFamily="18" charset="0"/>
                <a:cs typeface="Times New Roman" pitchFamily="18" charset="0"/>
              </a:rPr>
              <a:t>It is a low cost system that can keep records of specific members in a particular area and provide immediate caution in criminal cases against women. </a:t>
            </a:r>
          </a:p>
          <a:p>
            <a:pPr algn="just"/>
            <a:r>
              <a:rPr lang="en-US" dirty="0">
                <a:latin typeface="Times New Roman" pitchFamily="18" charset="0"/>
                <a:cs typeface="Times New Roman" pitchFamily="18" charset="0"/>
              </a:rPr>
              <a:t>This provides safety for women. Safety and security are the needs of the day.</a:t>
            </a:r>
          </a:p>
          <a:p>
            <a:pPr algn="just"/>
            <a:endParaRPr lang="en-US"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14400" y="274638"/>
            <a:ext cx="7772400" cy="944562"/>
          </a:xfrm>
        </p:spPr>
        <p:txBody>
          <a:bodyPr/>
          <a:lstStyle/>
          <a:p>
            <a:pPr algn="ctr"/>
            <a:r>
              <a:rPr lang="en-US" b="1" dirty="0">
                <a:latin typeface="Times New Roman" pitchFamily="18" charset="0"/>
                <a:cs typeface="Times New Roman" pitchFamily="18" charset="0"/>
              </a:rPr>
              <a:t>APPLICATIONS</a:t>
            </a:r>
          </a:p>
        </p:txBody>
      </p:sp>
      <p:sp>
        <p:nvSpPr>
          <p:cNvPr id="2" name="Content Placeholder 1"/>
          <p:cNvSpPr>
            <a:spLocks noGrp="1"/>
          </p:cNvSpPr>
          <p:nvPr>
            <p:ph sz="quarter" idx="1"/>
          </p:nvPr>
        </p:nvSpPr>
        <p:spPr/>
        <p:txBody>
          <a:bodyPr/>
          <a:lstStyle/>
          <a:p>
            <a:pPr algn="just"/>
            <a:r>
              <a:rPr lang="en-US" dirty="0">
                <a:latin typeface="Times New Roman" panose="02020603050405020304" pitchFamily="18" charset="0"/>
                <a:cs typeface="Times New Roman" panose="02020603050405020304" pitchFamily="18" charset="0"/>
              </a:rPr>
              <a:t>It helps in providing real-time alerts and improves emergency response systems. </a:t>
            </a:r>
          </a:p>
          <a:p>
            <a:pPr algn="just"/>
            <a:r>
              <a:rPr lang="en-US" dirty="0">
                <a:latin typeface="Times New Roman" panose="02020603050405020304" pitchFamily="18" charset="0"/>
                <a:cs typeface="Times New Roman" panose="02020603050405020304" pitchFamily="18" charset="0"/>
              </a:rPr>
              <a:t>It Can be used in school Students bag to monitor them.</a:t>
            </a:r>
          </a:p>
          <a:p>
            <a:pPr algn="just"/>
            <a:r>
              <a:rPr lang="en-US" dirty="0">
                <a:latin typeface="Times New Roman" panose="02020603050405020304" pitchFamily="18" charset="0"/>
                <a:cs typeface="Times New Roman" panose="02020603050405020304" pitchFamily="18" charset="0"/>
              </a:rPr>
              <a:t>It Can be implemented in vehicles for safety ride.</a:t>
            </a:r>
          </a:p>
          <a:p>
            <a:r>
              <a:rPr lang="en-US" dirty="0">
                <a:latin typeface="Times New Roman" panose="02020603050405020304" pitchFamily="18" charset="0"/>
                <a:cs typeface="Times New Roman" panose="02020603050405020304" pitchFamily="18" charset="0"/>
              </a:rPr>
              <a:t>It can assist law enforcement agencies in tracking and preventing human trafficking cases.</a:t>
            </a:r>
          </a:p>
          <a:p>
            <a:r>
              <a:rPr lang="en-US" dirty="0">
                <a:latin typeface="Times New Roman" panose="02020603050405020304" pitchFamily="18" charset="0"/>
                <a:cs typeface="Times New Roman" panose="02020603050405020304" pitchFamily="18" charset="0"/>
              </a:rPr>
              <a:t>It can be used as a wearable safety device for elderly people and vulnerable individuals.</a:t>
            </a:r>
          </a:p>
          <a:p>
            <a:r>
              <a:rPr lang="en-US" dirty="0">
                <a:latin typeface="Times New Roman" panose="02020603050405020304" pitchFamily="18" charset="0"/>
                <a:cs typeface="Times New Roman" panose="02020603050405020304" pitchFamily="18" charset="0"/>
              </a:rPr>
              <a:t>It can be used in remote or GPS-denied environments for continuous safety monitoring</a:t>
            </a:r>
            <a:r>
              <a:rPr lang="en-US" dirty="0"/>
              <a:t>.</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14400" y="274638"/>
            <a:ext cx="7772400" cy="944562"/>
          </a:xfrm>
        </p:spPr>
        <p:txBody>
          <a:bodyPr/>
          <a:lstStyle/>
          <a:p>
            <a:pPr algn="ctr"/>
            <a:r>
              <a:rPr lang="en-US" b="1" dirty="0">
                <a:latin typeface="Times New Roman" pitchFamily="18" charset="0"/>
                <a:cs typeface="Times New Roman" pitchFamily="18" charset="0"/>
              </a:rPr>
              <a:t>REFERENCES</a:t>
            </a:r>
          </a:p>
        </p:txBody>
      </p:sp>
      <p:sp>
        <p:nvSpPr>
          <p:cNvPr id="2" name="Content Placeholder 1"/>
          <p:cNvSpPr>
            <a:spLocks noGrp="1"/>
          </p:cNvSpPr>
          <p:nvPr>
            <p:ph sz="quarter" idx="1"/>
          </p:nvPr>
        </p:nvSpPr>
        <p:spPr>
          <a:xfrm>
            <a:off x="914400" y="1371600"/>
            <a:ext cx="7772400" cy="4876800"/>
          </a:xfrm>
        </p:spPr>
        <p:txBody>
          <a:bodyPr>
            <a:normAutofit fontScale="77500" lnSpcReduction="20000"/>
          </a:bodyPr>
          <a:lstStyle/>
          <a:p>
            <a:pPr algn="just"/>
            <a:r>
              <a:rPr lang="en-US" dirty="0">
                <a:latin typeface="Times New Roman" pitchFamily="18" charset="0"/>
                <a:cs typeface="Times New Roman" pitchFamily="18" charset="0"/>
              </a:rPr>
              <a:t>[1]. Simon L. Cotton and William G. Scanlon, “Millimeter - wave Soldier –to soldier communications for covert battlefield operation,” IEEE communication Magazine, October 2022. </a:t>
            </a:r>
          </a:p>
          <a:p>
            <a:pPr algn="just"/>
            <a:r>
              <a:rPr lang="en-US" dirty="0">
                <a:latin typeface="Times New Roman" pitchFamily="18" charset="0"/>
                <a:cs typeface="Times New Roman" pitchFamily="18" charset="0"/>
              </a:rPr>
              <a:t>[2]. </a:t>
            </a:r>
            <a:r>
              <a:rPr lang="en-US" dirty="0" err="1">
                <a:latin typeface="Times New Roman" pitchFamily="18" charset="0"/>
                <a:cs typeface="Times New Roman" pitchFamily="18" charset="0"/>
              </a:rPr>
              <a:t>Vamil</a:t>
            </a:r>
            <a:r>
              <a:rPr lang="en-US" dirty="0">
                <a:latin typeface="Times New Roman" pitchFamily="18" charset="0"/>
                <a:cs typeface="Times New Roman" pitchFamily="18" charset="0"/>
              </a:rPr>
              <a:t> B. </a:t>
            </a:r>
            <a:r>
              <a:rPr lang="en-US" dirty="0" err="1">
                <a:latin typeface="Times New Roman" pitchFamily="18" charset="0"/>
                <a:cs typeface="Times New Roman" pitchFamily="18" charset="0"/>
              </a:rPr>
              <a:t>Sangoi</a:t>
            </a:r>
            <a:r>
              <a:rPr lang="en-US" dirty="0">
                <a:latin typeface="Times New Roman" pitchFamily="18" charset="0"/>
                <a:cs typeface="Times New Roman" pitchFamily="18" charset="0"/>
              </a:rPr>
              <a:t>, “Smart security solutions,” International Journal of Current Engineering and Technology, Vol.4, No.5, Oct-2024. </a:t>
            </a:r>
          </a:p>
          <a:p>
            <a:pPr algn="just"/>
            <a:r>
              <a:rPr lang="en-US" dirty="0">
                <a:latin typeface="Times New Roman" pitchFamily="18" charset="0"/>
                <a:cs typeface="Times New Roman" pitchFamily="18" charset="0"/>
              </a:rPr>
              <a:t>[3]. B. </a:t>
            </a:r>
            <a:r>
              <a:rPr lang="en-US" dirty="0" err="1">
                <a:latin typeface="Times New Roman" pitchFamily="18" charset="0"/>
                <a:cs typeface="Times New Roman" pitchFamily="18" charset="0"/>
              </a:rPr>
              <a:t>Chougula</a:t>
            </a:r>
            <a:r>
              <a:rPr lang="en-US" dirty="0">
                <a:latin typeface="Times New Roman" pitchFamily="18" charset="0"/>
                <a:cs typeface="Times New Roman" pitchFamily="18" charset="0"/>
              </a:rPr>
              <a:t>, “Smart girls security system,” International Journal of Application or Innovation in Engineering &amp; Management, Volume 3, Issue 4,April 2024. </a:t>
            </a:r>
          </a:p>
          <a:p>
            <a:pPr algn="just"/>
            <a:r>
              <a:rPr lang="en-US" dirty="0">
                <a:latin typeface="Times New Roman" pitchFamily="18" charset="0"/>
                <a:cs typeface="Times New Roman" pitchFamily="18" charset="0"/>
              </a:rPr>
              <a:t>[4]. Hock </a:t>
            </a:r>
            <a:r>
              <a:rPr lang="en-US" dirty="0" err="1">
                <a:latin typeface="Times New Roman" pitchFamily="18" charset="0"/>
                <a:cs typeface="Times New Roman" pitchFamily="18" charset="0"/>
              </a:rPr>
              <a:t>Beng</a:t>
            </a:r>
            <a:r>
              <a:rPr lang="en-US" dirty="0">
                <a:latin typeface="Times New Roman" pitchFamily="18" charset="0"/>
                <a:cs typeface="Times New Roman" pitchFamily="18" charset="0"/>
              </a:rPr>
              <a:t> Lim, “A Soldier Health Monitoring System for Military Applications,” International Conference on Body Sensor Networks. </a:t>
            </a:r>
          </a:p>
          <a:p>
            <a:pPr algn="just"/>
            <a:r>
              <a:rPr lang="en-US" dirty="0">
                <a:latin typeface="Times New Roman" pitchFamily="18" charset="0"/>
                <a:cs typeface="Times New Roman" pitchFamily="18" charset="0"/>
              </a:rPr>
              <a:t>[5]. Premkumar .P, </a:t>
            </a:r>
            <a:r>
              <a:rPr lang="en-US" dirty="0" err="1">
                <a:latin typeface="Times New Roman" pitchFamily="18" charset="0"/>
                <a:cs typeface="Times New Roman" pitchFamily="18" charset="0"/>
              </a:rPr>
              <a:t>Cibi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Chakkaravarthi</a:t>
            </a:r>
            <a:r>
              <a:rPr lang="en-US" dirty="0">
                <a:latin typeface="Times New Roman" pitchFamily="18" charset="0"/>
                <a:cs typeface="Times New Roman" pitchFamily="18" charset="0"/>
              </a:rPr>
              <a:t>. R, </a:t>
            </a:r>
            <a:r>
              <a:rPr lang="en-US" dirty="0" err="1">
                <a:latin typeface="Times New Roman" pitchFamily="18" charset="0"/>
                <a:cs typeface="Times New Roman" pitchFamily="18" charset="0"/>
              </a:rPr>
              <a:t>Keerthana.M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Ravivarma.R</a:t>
            </a:r>
            <a:r>
              <a:rPr lang="en-US" dirty="0">
                <a:latin typeface="Times New Roman" pitchFamily="18" charset="0"/>
                <a:cs typeface="Times New Roman" pitchFamily="18" charset="0"/>
              </a:rPr>
              <a:t>, Sharmila. “One Touch Alarm System For Women’s safety Using GSM” International Journal of Science Technology &amp; Management, 2025 March. </a:t>
            </a:r>
          </a:p>
          <a:p>
            <a:pPr algn="just"/>
            <a:r>
              <a:rPr lang="en-US" dirty="0">
                <a:latin typeface="Times New Roman" pitchFamily="18" charset="0"/>
                <a:cs typeface="Times New Roman" pitchFamily="18" charset="0"/>
              </a:rPr>
              <a:t>[6]. “SURAKSHA, A Device To Help Women In Distress: An Initiative By A Student of ITM University, </a:t>
            </a:r>
            <a:r>
              <a:rPr lang="en-US" dirty="0" err="1">
                <a:latin typeface="Times New Roman" pitchFamily="18" charset="0"/>
                <a:cs typeface="Times New Roman" pitchFamily="18" charset="0"/>
              </a:rPr>
              <a:t>Gurgaon</a:t>
            </a:r>
            <a:r>
              <a:rPr lang="en-US" dirty="0">
                <a:latin typeface="Times New Roman" pitchFamily="18" charset="0"/>
                <a:cs typeface="Times New Roman" pitchFamily="18" charset="0"/>
              </a:rPr>
              <a:t>”</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999</TotalTime>
  <Words>2637</Words>
  <Application>Microsoft Office PowerPoint</Application>
  <PresentationFormat>On-screen Show (4:3)</PresentationFormat>
  <Paragraphs>140</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Franklin Gothic Book</vt:lpstr>
      <vt:lpstr>Perpetua</vt:lpstr>
      <vt:lpstr>Times New Roman</vt:lpstr>
      <vt:lpstr>Wingdings 2</vt:lpstr>
      <vt:lpstr>Equity</vt:lpstr>
      <vt:lpstr>An I beacon based  AI-Driven Wearable Surveillance System for Tracking and Intercepting Forced Human Transport</vt:lpstr>
      <vt:lpstr>ABSTRACT</vt:lpstr>
      <vt:lpstr>INTRODUCTION</vt:lpstr>
      <vt:lpstr>LITERATURE SURVEY 1</vt:lpstr>
      <vt:lpstr>LITERATURE SURVEY 2</vt:lpstr>
      <vt:lpstr>LITERATURE SURVEY 3</vt:lpstr>
      <vt:lpstr>LITERATURE SURVEY 4</vt:lpstr>
      <vt:lpstr>LITERATURE SURVEY 5</vt:lpstr>
      <vt:lpstr>EXISTING SYSTEM</vt:lpstr>
      <vt:lpstr>EXISTING SYSTEM DISADVANATAGES</vt:lpstr>
      <vt:lpstr>PROPOSED SYSTEM</vt:lpstr>
      <vt:lpstr>PROPOSED SYSTEM ADVANTAGES</vt:lpstr>
      <vt:lpstr>BLOCK DIAGRAM</vt:lpstr>
      <vt:lpstr>HARDWARE USED</vt:lpstr>
      <vt:lpstr>SOFTWARE USED </vt:lpstr>
      <vt:lpstr>ESP32 MICROCONTROLLER</vt:lpstr>
      <vt:lpstr>HEARTBEAT SENSOR</vt:lpstr>
      <vt:lpstr>MEMS SENSOR</vt:lpstr>
      <vt:lpstr>IBEACON</vt:lpstr>
      <vt:lpstr>CONCLUSION</vt:lpstr>
      <vt:lpstr>APPLICATIONS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 Time Air Quality and Pollution Monitoring System</dc:title>
  <dc:creator>Hi</dc:creator>
  <cp:lastModifiedBy>Polipalli Rajesh</cp:lastModifiedBy>
  <cp:revision>18</cp:revision>
  <dcterms:created xsi:type="dcterms:W3CDTF">2006-08-16T00:00:00Z</dcterms:created>
  <dcterms:modified xsi:type="dcterms:W3CDTF">2026-05-08T02:24:08Z</dcterms:modified>
</cp:coreProperties>
</file>